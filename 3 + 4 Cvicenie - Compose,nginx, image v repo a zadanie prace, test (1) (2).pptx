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31"/>
  </p:handoutMasterIdLst>
  <p:sldIdLst>
    <p:sldId id="256" r:id="rId5"/>
    <p:sldId id="257" r:id="rId6"/>
    <p:sldId id="598" r:id="rId7"/>
    <p:sldId id="580" r:id="rId8"/>
    <p:sldId id="607" r:id="rId9"/>
    <p:sldId id="604" r:id="rId10"/>
    <p:sldId id="608" r:id="rId11"/>
    <p:sldId id="609" r:id="rId12"/>
    <p:sldId id="619" r:id="rId13"/>
    <p:sldId id="605" r:id="rId14"/>
    <p:sldId id="612" r:id="rId15"/>
    <p:sldId id="611" r:id="rId16"/>
    <p:sldId id="610" r:id="rId17"/>
    <p:sldId id="613" r:id="rId18"/>
    <p:sldId id="614" r:id="rId19"/>
    <p:sldId id="615" r:id="rId20"/>
    <p:sldId id="621" r:id="rId21"/>
    <p:sldId id="599" r:id="rId22"/>
    <p:sldId id="622" r:id="rId23"/>
    <p:sldId id="623" r:id="rId24"/>
    <p:sldId id="624" r:id="rId25"/>
    <p:sldId id="616" r:id="rId26"/>
    <p:sldId id="617" r:id="rId27"/>
    <p:sldId id="577" r:id="rId28"/>
    <p:sldId id="597" r:id="rId29"/>
    <p:sldId id="27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k Tóth" userId="S::xtothp1@stuba.sk::cb72ea02-41c5-4cca-ad33-8cc749eb0a23" providerId="AD" clId="Web-{CAFBE98D-689D-D639-1307-A37C0262A92E}"/>
    <pc:docChg chg="modSld">
      <pc:chgData name="Patrik Tóth" userId="S::xtothp1@stuba.sk::cb72ea02-41c5-4cca-ad33-8cc749eb0a23" providerId="AD" clId="Web-{CAFBE98D-689D-D639-1307-A37C0262A92E}" dt="2026-10-02T10:48:04.244" v="0" actId="1076"/>
      <pc:docMkLst>
        <pc:docMk/>
      </pc:docMkLst>
      <pc:sldChg chg="modSp">
        <pc:chgData name="Patrik Tóth" userId="S::xtothp1@stuba.sk::cb72ea02-41c5-4cca-ad33-8cc749eb0a23" providerId="AD" clId="Web-{CAFBE98D-689D-D639-1307-A37C0262A92E}" dt="2026-10-02T10:48:04.244" v="0" actId="1076"/>
        <pc:sldMkLst>
          <pc:docMk/>
          <pc:sldMk cId="1449731714" sldId="610"/>
        </pc:sldMkLst>
        <pc:spChg chg="mod">
          <ac:chgData name="Patrik Tóth" userId="S::xtothp1@stuba.sk::cb72ea02-41c5-4cca-ad33-8cc749eb0a23" providerId="AD" clId="Web-{CAFBE98D-689D-D639-1307-A37C0262A92E}" dt="2026-10-02T10:48:04.244" v="0" actId="1076"/>
          <ac:spMkLst>
            <pc:docMk/>
            <pc:sldMk cId="1449731714" sldId="610"/>
            <ac:spMk id="24" creationId="{2F2E8C65-5C52-4DA8-89BD-60B4B8312141}"/>
          </ac:spMkLst>
        </pc:spChg>
      </pc:sldChg>
    </pc:docChg>
  </pc:docChgLst>
  <pc:docChgLst>
    <pc:chgData name="Pavol Helebrandt" userId="S::xhelebrandtp@stuba.sk::f94ef3f6-6321-47b2-995a-dbc96943972a" providerId="AD" clId="Web-{32D631F8-9C3E-F186-7E2C-D83C936F2507}"/>
    <pc:docChg chg="modSld">
      <pc:chgData name="Pavol Helebrandt" userId="S::xhelebrandtp@stuba.sk::f94ef3f6-6321-47b2-995a-dbc96943972a" providerId="AD" clId="Web-{32D631F8-9C3E-F186-7E2C-D83C936F2507}" dt="2026-10-02T10:54:17.079" v="0" actId="1076"/>
      <pc:docMkLst>
        <pc:docMk/>
      </pc:docMkLst>
      <pc:sldChg chg="modSp">
        <pc:chgData name="Pavol Helebrandt" userId="S::xhelebrandtp@stuba.sk::f94ef3f6-6321-47b2-995a-dbc96943972a" providerId="AD" clId="Web-{32D631F8-9C3E-F186-7E2C-D83C936F2507}" dt="2026-10-02T10:54:17.079" v="0" actId="1076"/>
        <pc:sldMkLst>
          <pc:docMk/>
          <pc:sldMk cId="1802556209" sldId="624"/>
        </pc:sldMkLst>
        <pc:picChg chg="mod">
          <ac:chgData name="Pavol Helebrandt" userId="S::xhelebrandtp@stuba.sk::f94ef3f6-6321-47b2-995a-dbc96943972a" providerId="AD" clId="Web-{32D631F8-9C3E-F186-7E2C-D83C936F2507}" dt="2026-10-02T10:54:17.079" v="0" actId="1076"/>
          <ac:picMkLst>
            <pc:docMk/>
            <pc:sldMk cId="1802556209" sldId="624"/>
            <ac:picMk id="4" creationId="{430D3727-FDC6-4492-AB07-2CE615E2F36D}"/>
          </ac:picMkLst>
        </pc:picChg>
      </pc:sldChg>
    </pc:docChg>
  </pc:docChgLst>
  <pc:docChgLst>
    <pc:chgData name="Marián Timko" userId="S::xtimkom@stuba.sk::e58d40f6-6b2b-4ea4-a8a8-eb90205e2805" providerId="AD" clId="Web-{101BB636-8E76-236F-D90F-02B093BAAF22}"/>
    <pc:docChg chg="modSld">
      <pc:chgData name="Marián Timko" userId="S::xtimkom@stuba.sk::e58d40f6-6b2b-4ea4-a8a8-eb90205e2805" providerId="AD" clId="Web-{101BB636-8E76-236F-D90F-02B093BAAF22}" dt="2026-10-02T10:44:25.247" v="1" actId="14100"/>
      <pc:docMkLst>
        <pc:docMk/>
      </pc:docMkLst>
      <pc:sldChg chg="modSp">
        <pc:chgData name="Marián Timko" userId="S::xtimkom@stuba.sk::e58d40f6-6b2b-4ea4-a8a8-eb90205e2805" providerId="AD" clId="Web-{101BB636-8E76-236F-D90F-02B093BAAF22}" dt="2026-10-02T10:44:25.247" v="1" actId="14100"/>
        <pc:sldMkLst>
          <pc:docMk/>
          <pc:sldMk cId="2248971531" sldId="605"/>
        </pc:sldMkLst>
        <pc:spChg chg="mod">
          <ac:chgData name="Marián Timko" userId="S::xtimkom@stuba.sk::e58d40f6-6b2b-4ea4-a8a8-eb90205e2805" providerId="AD" clId="Web-{101BB636-8E76-236F-D90F-02B093BAAF22}" dt="2026-10-02T10:44:25.247" v="1" actId="14100"/>
          <ac:spMkLst>
            <pc:docMk/>
            <pc:sldMk cId="2248971531" sldId="605"/>
            <ac:spMk id="14" creationId="{5CB31397-51E6-43BA-9165-E0C347B0676C}"/>
          </ac:spMkLst>
        </pc:spChg>
      </pc:sldChg>
    </pc:docChg>
  </pc:docChgLst>
  <pc:docChgLst>
    <pc:chgData name="Daria Artemeva" userId="S::xartemeva@stuba.sk::2a4ac8e6-aba7-42a0-98c1-69204ebecfb6" providerId="AD" clId="Web-{DCF679F6-21AE-0113-D35A-3A2DBB5EB7AF}"/>
    <pc:docChg chg="modSld">
      <pc:chgData name="Daria Artemeva" userId="S::xartemeva@stuba.sk::2a4ac8e6-aba7-42a0-98c1-69204ebecfb6" providerId="AD" clId="Web-{DCF679F6-21AE-0113-D35A-3A2DBB5EB7AF}" dt="2026-10-02T10:56:43.386" v="3" actId="20577"/>
      <pc:docMkLst>
        <pc:docMk/>
      </pc:docMkLst>
      <pc:sldChg chg="modSp">
        <pc:chgData name="Daria Artemeva" userId="S::xartemeva@stuba.sk::2a4ac8e6-aba7-42a0-98c1-69204ebecfb6" providerId="AD" clId="Web-{DCF679F6-21AE-0113-D35A-3A2DBB5EB7AF}" dt="2026-10-02T10:56:43.386" v="3" actId="20577"/>
        <pc:sldMkLst>
          <pc:docMk/>
          <pc:sldMk cId="964210163" sldId="599"/>
        </pc:sldMkLst>
        <pc:spChg chg="mod">
          <ac:chgData name="Daria Artemeva" userId="S::xartemeva@stuba.sk::2a4ac8e6-aba7-42a0-98c1-69204ebecfb6" providerId="AD" clId="Web-{DCF679F6-21AE-0113-D35A-3A2DBB5EB7AF}" dt="2026-10-02T10:56:43.386" v="3" actId="20577"/>
          <ac:spMkLst>
            <pc:docMk/>
            <pc:sldMk cId="964210163" sldId="599"/>
            <ac:spMk id="9" creationId="{A1701270-9E11-4599-8755-43043EB1D7B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5C16CD-D076-4123-840C-881067D6BC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7EF17E-5599-4448-B064-F3D932F2E2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80871-A491-4E0D-B27E-69CC2687082F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5E292B-F90A-4BB4-8259-A954B9D724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54D03-DC40-44A3-A997-D5ED224D45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76EB5-0E83-42B6-87AF-DA4BD19E8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685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CEC06-F3B8-4E2C-8B0F-6E15C4B21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00B03-2564-4425-BA16-870D3EA28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8FBF5-D5EA-4600-B59B-54DC238F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F6611-B9C7-468A-840A-8D4C0A9BB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871E0-1F8A-49E6-9539-65AE184B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9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E7DC1-8F11-48D6-A3A2-3252D4854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BFE87-CE00-42FE-B480-C829ECDAF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840DE-B859-48E9-BE07-084D52C37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6D3B7-FC82-4346-8E1C-1FA81D03C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C65B3-632A-4C2D-B0B0-067CA1915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99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1660-6677-46E5-8D05-3840691C4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B5E8E-8A1B-4972-A53D-5AF0BC236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0AF27-02ED-46C8-BC37-3BD80F296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AB325-7389-4A68-986F-39EB4BE4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1CDA2-18B1-4CF9-93FB-68013DA9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30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090A-BD90-48D4-9136-DEA6B09DE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1C3C9-0E62-4003-B26A-9504F8FDA8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E72CC-6C57-47E3-87A6-B0C0EC510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51DFF-879F-452E-AF31-A17F02590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DA84C-A37D-4CD6-BCC7-F7C3B5C85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EF04B-3413-43B3-83AA-E6E303FF1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5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5F3B8-4BAC-4F18-B6E2-6963868B1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FE6BB-5140-4F48-B8FD-6D66A962E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7C1CC-94E3-4E0F-A19F-BEC42FC45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94BDC-9A07-49FC-BE01-80C7ED7E8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CB0BEE-F64D-409D-B96F-DBF20DA79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7BC85C-F34C-40A1-88FD-62985A4F7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7C68DC-DA55-4AF6-BA8A-D80E4D187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E54A23-90C4-42DD-8424-9A2A67B78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2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FB77-9AA9-459D-8447-3C446E7CF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E7C839-FAE4-47F3-B364-6F1BE115E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4C169-1E38-48CA-806F-B10FC7484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BD49A-B8FB-47E6-A413-E863D0BE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95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B2F12A-6BCE-4716-A14B-01185B116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7F0D77-FB58-42AD-B0D7-1EC3AEF9E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8B63E-130B-4A65-A949-57AD253E7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4D8D99B-236D-46C1-B8CC-F73A90F10B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1632" y="703263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Add Your Pic Here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1B9D871-D158-4635-8CD4-C3E09150D08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681746" y="703263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Add Your Pic Here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5BD24C01-3F9A-4DF6-B721-6943F82B31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90380" y="703263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Add Your Pic Here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E7167516-F082-4E72-A2F4-4A00553C6A8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643045" y="703263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Add Your Pic Here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B7F1A3A0-91F1-43E9-ADFD-96C76FBB40B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032749" y="703263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Add Your Pic Here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73078B10-D96E-450F-BDAE-D96E911C2CA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1632" y="2966629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Add Your Pic Here</a:t>
            </a:r>
          </a:p>
        </p:txBody>
      </p:sp>
    </p:spTree>
    <p:extLst>
      <p:ext uri="{BB962C8B-B14F-4D97-AF65-F5344CB8AC3E}">
        <p14:creationId xmlns:p14="http://schemas.microsoft.com/office/powerpoint/2010/main" val="832161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4C7C-B380-4067-BD97-E5D7EF78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0E0AE-E5B9-4127-8E1F-93A7082B0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52295-F7AA-48AC-B92E-F10FD2DC0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2BC37D-F2B8-45B5-8893-C63E8646A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5578D-3A5B-4AF5-AE0C-15E1890D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C7AD4-C715-4A4D-B82C-8D513D49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35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0AF68B-0660-4858-814B-940C4E666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192463" y="73025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610E6-F570-4537-BAD5-9DDD739B5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9A2FD-081E-4523-B2E6-F9A04630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04314-AFBC-4922-BE73-F80D33AB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3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6800-023A-43EF-A7EB-1EC254D8B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05B04-597F-465E-851E-2661EAEAC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8D492-F277-449C-811D-047EFA5A7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E342B-75A7-4B70-9C03-0CE04872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DC5F0-D402-4200-A3DF-41341D67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7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1C786B-89FF-4B70-B413-CF9F4FE6E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8D656-4DCF-4FCD-987B-3766B43B0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A09D1-F7EE-49FF-847F-2BA5B9D4A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B355D-B132-4F33-AB04-61E1A148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A51A3-7091-48CF-B98C-03AF74F90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3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579B4-3455-48EB-BC42-53EACC073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BE214-C24F-4958-8779-3412B4196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BA94E-504A-40A5-A791-F646936AD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1294E-E5A8-4AC0-BC36-C2BA5440625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20237-BE98-4F01-A3D8-22364C89E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9E9C7-15FC-4792-826E-056C89E48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3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000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repositories" TargetMode="External"/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magazin.kpi.fei.tuke.sk/2019/04/kubernetes-a-jeho-zakladne-pouzitie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s.wikipedia.org/wiki/Round-robin_DNS" TargetMode="External"/><Relationship Id="rId2" Type="http://schemas.openxmlformats.org/officeDocument/2006/relationships/hyperlink" Target="http://nginx.org/en/docs/http/load_balancing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hyperlink" Target="https://pspdfkit.com/blog/2018/how-to-use-docker-compose-to-run-multiple-instances-of-a-service-in-development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storage/" TargetMode="External"/><Relationship Id="rId2" Type="http://schemas.openxmlformats.org/officeDocument/2006/relationships/hyperlink" Target="https://docs.docker.com/get-started/overview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hyperlink" Target="https://learn.microsoft.com/en-us/dotnet/core/docker/build-container?tabs=windows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magazin.kpi.fei.tuke.sk/2019/04/kubernetes-a-jeho-zakladne-pouzitie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BF09116-5987-43DE-9F4D-C42314E70D2A}"/>
              </a:ext>
            </a:extLst>
          </p:cNvPr>
          <p:cNvSpPr/>
          <p:nvPr/>
        </p:nvSpPr>
        <p:spPr>
          <a:xfrm>
            <a:off x="8067675" y="-7144"/>
            <a:ext cx="4124325" cy="6867525"/>
          </a:xfrm>
          <a:custGeom>
            <a:avLst/>
            <a:gdLst>
              <a:gd name="connsiteX0" fmla="*/ 7144 w 4124325"/>
              <a:gd name="connsiteY0" fmla="*/ 7144 h 6867525"/>
              <a:gd name="connsiteX1" fmla="*/ 4122516 w 4124325"/>
              <a:gd name="connsiteY1" fmla="*/ 7144 h 6867525"/>
              <a:gd name="connsiteX2" fmla="*/ 4122516 w 4124325"/>
              <a:gd name="connsiteY2" fmla="*/ 6865144 h 6867525"/>
              <a:gd name="connsiteX3" fmla="*/ 7145 w 4124325"/>
              <a:gd name="connsiteY3" fmla="*/ 6865144 h 686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4325" h="6867525">
                <a:moveTo>
                  <a:pt x="7144" y="7144"/>
                </a:moveTo>
                <a:lnTo>
                  <a:pt x="4122516" y="7144"/>
                </a:lnTo>
                <a:lnTo>
                  <a:pt x="4122516" y="6865144"/>
                </a:lnTo>
                <a:lnTo>
                  <a:pt x="7145" y="6865144"/>
                </a:lnTo>
                <a:close/>
              </a:path>
            </a:pathLst>
          </a:custGeom>
          <a:solidFill>
            <a:srgbClr val="0A193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305371C-206B-4101-83A0-C87DE6EC5605}"/>
              </a:ext>
            </a:extLst>
          </p:cNvPr>
          <p:cNvSpPr/>
          <p:nvPr/>
        </p:nvSpPr>
        <p:spPr>
          <a:xfrm>
            <a:off x="1354741" y="5498878"/>
            <a:ext cx="4552950" cy="1362075"/>
          </a:xfrm>
          <a:custGeom>
            <a:avLst/>
            <a:gdLst>
              <a:gd name="connsiteX0" fmla="*/ 7144 w 4552950"/>
              <a:gd name="connsiteY0" fmla="*/ 1359122 h 1362075"/>
              <a:gd name="connsiteX1" fmla="*/ 7144 w 4552950"/>
              <a:gd name="connsiteY1" fmla="*/ 1359122 h 1362075"/>
              <a:gd name="connsiteX2" fmla="*/ 1359122 w 4552950"/>
              <a:gd name="connsiteY2" fmla="*/ 7144 h 1362075"/>
              <a:gd name="connsiteX3" fmla="*/ 3194685 w 4552950"/>
              <a:gd name="connsiteY3" fmla="*/ 7144 h 1362075"/>
              <a:gd name="connsiteX4" fmla="*/ 4546664 w 4552950"/>
              <a:gd name="connsiteY4" fmla="*/ 1359122 h 1362075"/>
              <a:gd name="connsiteX5" fmla="*/ 4546664 w 4552950"/>
              <a:gd name="connsiteY5" fmla="*/ 1359122 h 1362075"/>
              <a:gd name="connsiteX6" fmla="*/ 7144 w 4552950"/>
              <a:gd name="connsiteY6" fmla="*/ 1359122 h 136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2950" h="1362075">
                <a:moveTo>
                  <a:pt x="7144" y="1359122"/>
                </a:moveTo>
                <a:lnTo>
                  <a:pt x="7144" y="1359122"/>
                </a:lnTo>
                <a:cubicBezTo>
                  <a:pt x="7144" y="612457"/>
                  <a:pt x="612457" y="7144"/>
                  <a:pt x="1359122" y="7144"/>
                </a:cubicBezTo>
                <a:lnTo>
                  <a:pt x="3194685" y="7144"/>
                </a:lnTo>
                <a:cubicBezTo>
                  <a:pt x="3941350" y="7144"/>
                  <a:pt x="4546664" y="612457"/>
                  <a:pt x="4546664" y="1359122"/>
                </a:cubicBezTo>
                <a:lnTo>
                  <a:pt x="4546664" y="1359122"/>
                </a:lnTo>
                <a:lnTo>
                  <a:pt x="7144" y="1359122"/>
                </a:lnTo>
                <a:close/>
              </a:path>
            </a:pathLst>
          </a:custGeom>
          <a:solidFill>
            <a:srgbClr val="0A193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DA61323-BC68-435E-88F1-9F58A3DAE52A}"/>
              </a:ext>
            </a:extLst>
          </p:cNvPr>
          <p:cNvSpPr/>
          <p:nvPr/>
        </p:nvSpPr>
        <p:spPr>
          <a:xfrm>
            <a:off x="1354836" y="-7144"/>
            <a:ext cx="4552950" cy="1362075"/>
          </a:xfrm>
          <a:custGeom>
            <a:avLst/>
            <a:gdLst>
              <a:gd name="connsiteX0" fmla="*/ 4546664 w 4552950"/>
              <a:gd name="connsiteY0" fmla="*/ 7144 h 1362075"/>
              <a:gd name="connsiteX1" fmla="*/ 4546664 w 4552950"/>
              <a:gd name="connsiteY1" fmla="*/ 7144 h 1362075"/>
              <a:gd name="connsiteX2" fmla="*/ 3194685 w 4552950"/>
              <a:gd name="connsiteY2" fmla="*/ 1359122 h 1362075"/>
              <a:gd name="connsiteX3" fmla="*/ 1359122 w 4552950"/>
              <a:gd name="connsiteY3" fmla="*/ 1359122 h 1362075"/>
              <a:gd name="connsiteX4" fmla="*/ 7144 w 4552950"/>
              <a:gd name="connsiteY4" fmla="*/ 7144 h 1362075"/>
              <a:gd name="connsiteX5" fmla="*/ 7144 w 4552950"/>
              <a:gd name="connsiteY5" fmla="*/ 7144 h 1362075"/>
              <a:gd name="connsiteX6" fmla="*/ 4546664 w 4552950"/>
              <a:gd name="connsiteY6" fmla="*/ 7144 h 136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2950" h="1362075">
                <a:moveTo>
                  <a:pt x="4546664" y="7144"/>
                </a:moveTo>
                <a:lnTo>
                  <a:pt x="4546664" y="7144"/>
                </a:lnTo>
                <a:cubicBezTo>
                  <a:pt x="4546664" y="753809"/>
                  <a:pt x="3941350" y="1359122"/>
                  <a:pt x="3194685" y="1359122"/>
                </a:cubicBezTo>
                <a:lnTo>
                  <a:pt x="1359122" y="1359122"/>
                </a:lnTo>
                <a:cubicBezTo>
                  <a:pt x="612457" y="1359122"/>
                  <a:pt x="7144" y="753809"/>
                  <a:pt x="7144" y="7144"/>
                </a:cubicBezTo>
                <a:lnTo>
                  <a:pt x="7144" y="7144"/>
                </a:lnTo>
                <a:lnTo>
                  <a:pt x="4546664" y="7144"/>
                </a:lnTo>
                <a:close/>
              </a:path>
            </a:pathLst>
          </a:custGeom>
          <a:solidFill>
            <a:srgbClr val="EFEFE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7597E5-7984-4EC2-AEE6-99D2985C339B}"/>
              </a:ext>
            </a:extLst>
          </p:cNvPr>
          <p:cNvSpPr/>
          <p:nvPr/>
        </p:nvSpPr>
        <p:spPr>
          <a:xfrm>
            <a:off x="551069" y="925194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4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8"/>
                  <a:pt x="192258" y="245650"/>
                  <a:pt x="126397" y="245650"/>
                </a:cubicBezTo>
                <a:cubicBezTo>
                  <a:pt x="60535" y="245650"/>
                  <a:pt x="7144" y="192258"/>
                  <a:pt x="7144" y="126397"/>
                </a:cubicBezTo>
                <a:cubicBezTo>
                  <a:pt x="7144" y="60535"/>
                  <a:pt x="60535" y="7144"/>
                  <a:pt x="126397" y="7144"/>
                </a:cubicBezTo>
                <a:cubicBezTo>
                  <a:pt x="192258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E055349-714A-4781-8A3A-7F5B04C27B2D}"/>
              </a:ext>
            </a:extLst>
          </p:cNvPr>
          <p:cNvSpPr/>
          <p:nvPr/>
        </p:nvSpPr>
        <p:spPr>
          <a:xfrm>
            <a:off x="7179374" y="5984748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4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9"/>
                  <a:pt x="192259" y="245650"/>
                  <a:pt x="126397" y="245650"/>
                </a:cubicBezTo>
                <a:cubicBezTo>
                  <a:pt x="60535" y="245650"/>
                  <a:pt x="7144" y="192259"/>
                  <a:pt x="7144" y="126397"/>
                </a:cubicBezTo>
                <a:cubicBezTo>
                  <a:pt x="7144" y="60535"/>
                  <a:pt x="60535" y="7144"/>
                  <a:pt x="126397" y="7144"/>
                </a:cubicBezTo>
                <a:cubicBezTo>
                  <a:pt x="192259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61132DE-F0DA-49AA-ABD4-100EFFD8E850}"/>
              </a:ext>
            </a:extLst>
          </p:cNvPr>
          <p:cNvSpPr/>
          <p:nvPr/>
        </p:nvSpPr>
        <p:spPr>
          <a:xfrm>
            <a:off x="6707791" y="677544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4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8"/>
                  <a:pt x="192259" y="245650"/>
                  <a:pt x="126397" y="245650"/>
                </a:cubicBezTo>
                <a:cubicBezTo>
                  <a:pt x="60535" y="245650"/>
                  <a:pt x="7144" y="192258"/>
                  <a:pt x="7144" y="126397"/>
                </a:cubicBezTo>
                <a:cubicBezTo>
                  <a:pt x="7144" y="60535"/>
                  <a:pt x="60535" y="7144"/>
                  <a:pt x="126397" y="7144"/>
                </a:cubicBezTo>
                <a:cubicBezTo>
                  <a:pt x="192259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F387F14-8CBB-43F7-AEB1-8617EF888788}"/>
              </a:ext>
            </a:extLst>
          </p:cNvPr>
          <p:cNvSpPr/>
          <p:nvPr/>
        </p:nvSpPr>
        <p:spPr>
          <a:xfrm>
            <a:off x="5480911" y="4857372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4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8"/>
                  <a:pt x="192259" y="245650"/>
                  <a:pt x="126397" y="245650"/>
                </a:cubicBezTo>
                <a:cubicBezTo>
                  <a:pt x="60535" y="245650"/>
                  <a:pt x="7144" y="192258"/>
                  <a:pt x="7144" y="126397"/>
                </a:cubicBezTo>
                <a:cubicBezTo>
                  <a:pt x="7144" y="60535"/>
                  <a:pt x="60535" y="7144"/>
                  <a:pt x="126397" y="7144"/>
                </a:cubicBezTo>
                <a:cubicBezTo>
                  <a:pt x="192259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5B1E42B-E59B-495B-AC67-1D8BDB9762C4}"/>
              </a:ext>
            </a:extLst>
          </p:cNvPr>
          <p:cNvSpPr/>
          <p:nvPr/>
        </p:nvSpPr>
        <p:spPr>
          <a:xfrm>
            <a:off x="550974" y="5251228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4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9"/>
                  <a:pt x="192258" y="245650"/>
                  <a:pt x="126397" y="245650"/>
                </a:cubicBezTo>
                <a:cubicBezTo>
                  <a:pt x="60535" y="245650"/>
                  <a:pt x="7144" y="192259"/>
                  <a:pt x="7144" y="126397"/>
                </a:cubicBezTo>
                <a:cubicBezTo>
                  <a:pt x="7144" y="60535"/>
                  <a:pt x="60535" y="7144"/>
                  <a:pt x="126397" y="7144"/>
                </a:cubicBezTo>
                <a:cubicBezTo>
                  <a:pt x="192258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5220CD-AFA7-4BF0-A678-BBDB0525C165}"/>
              </a:ext>
            </a:extLst>
          </p:cNvPr>
          <p:cNvSpPr txBox="1"/>
          <p:nvPr/>
        </p:nvSpPr>
        <p:spPr>
          <a:xfrm>
            <a:off x="593719" y="1379455"/>
            <a:ext cx="649421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k-SK" sz="6000" b="1">
                <a:solidFill>
                  <a:schemeClr val="accent2"/>
                </a:solidFill>
                <a:latin typeface="+mj-lt"/>
              </a:rPr>
              <a:t>Docker compose</a:t>
            </a:r>
            <a:r>
              <a:rPr lang="en-US" sz="6000" b="1">
                <a:solidFill>
                  <a:schemeClr val="accent2"/>
                </a:solidFill>
                <a:latin typeface="+mj-lt"/>
              </a:rPr>
              <a:t>,</a:t>
            </a:r>
            <a:endParaRPr lang="sk-SK" sz="6000" b="1">
              <a:solidFill>
                <a:schemeClr val="accent2"/>
              </a:solidFill>
              <a:latin typeface="+mj-lt"/>
            </a:endParaRPr>
          </a:p>
          <a:p>
            <a:pPr algn="ctr"/>
            <a:r>
              <a:rPr lang="sk-SK" sz="6000" b="1">
                <a:solidFill>
                  <a:schemeClr val="accent2"/>
                </a:solidFill>
                <a:latin typeface="+mj-lt"/>
              </a:rPr>
              <a:t>Nginx</a:t>
            </a:r>
            <a:r>
              <a:rPr lang="en-US" sz="6000" b="1">
                <a:solidFill>
                  <a:schemeClr val="accent2"/>
                </a:solidFill>
                <a:latin typeface="+mj-lt"/>
              </a:rPr>
              <a:t> a </a:t>
            </a:r>
            <a:endParaRPr lang="sk-SK" sz="6000" b="1">
              <a:solidFill>
                <a:schemeClr val="accent2"/>
              </a:solidFill>
              <a:latin typeface="+mj-lt"/>
            </a:endParaRPr>
          </a:p>
          <a:p>
            <a:pPr algn="ctr"/>
            <a:r>
              <a:rPr lang="sk-SK" sz="6000" b="1">
                <a:solidFill>
                  <a:schemeClr val="accent2"/>
                </a:solidFill>
                <a:latin typeface="+mj-lt"/>
              </a:rPr>
              <a:t>špecifikácia zadania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865AC-6117-4062-9E0D-35AA2109A4BD}"/>
              </a:ext>
            </a:extLst>
          </p:cNvPr>
          <p:cNvSpPr/>
          <p:nvPr/>
        </p:nvSpPr>
        <p:spPr>
          <a:xfrm>
            <a:off x="674799" y="5105022"/>
            <a:ext cx="6341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/>
              <a:t>Projektovanie a Inžiniering Mechatronických Systémov</a:t>
            </a:r>
            <a:endParaRPr lang="en-US" b="1">
              <a:solidFill>
                <a:schemeClr val="accent1"/>
              </a:solidFill>
            </a:endParaRPr>
          </a:p>
        </p:txBody>
      </p:sp>
      <p:sp>
        <p:nvSpPr>
          <p:cNvPr id="18" name="Graphic 16">
            <a:extLst>
              <a:ext uri="{FF2B5EF4-FFF2-40B4-BE49-F238E27FC236}">
                <a16:creationId xmlns:a16="http://schemas.microsoft.com/office/drawing/2014/main" id="{A261940C-C176-4222-87B8-0CC41333B014}"/>
              </a:ext>
            </a:extLst>
          </p:cNvPr>
          <p:cNvSpPr/>
          <p:nvPr/>
        </p:nvSpPr>
        <p:spPr>
          <a:xfrm>
            <a:off x="11794331" y="-7144"/>
            <a:ext cx="400050" cy="6867525"/>
          </a:xfrm>
          <a:custGeom>
            <a:avLst/>
            <a:gdLst>
              <a:gd name="connsiteX0" fmla="*/ 7144 w 400050"/>
              <a:gd name="connsiteY0" fmla="*/ 7144 h 6867525"/>
              <a:gd name="connsiteX1" fmla="*/ 397669 w 400050"/>
              <a:gd name="connsiteY1" fmla="*/ 7144 h 6867525"/>
              <a:gd name="connsiteX2" fmla="*/ 397669 w 400050"/>
              <a:gd name="connsiteY2" fmla="*/ 6865144 h 6867525"/>
              <a:gd name="connsiteX3" fmla="*/ 7144 w 400050"/>
              <a:gd name="connsiteY3" fmla="*/ 6865144 h 686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050" h="6867525">
                <a:moveTo>
                  <a:pt x="7144" y="7144"/>
                </a:moveTo>
                <a:lnTo>
                  <a:pt x="397669" y="7144"/>
                </a:lnTo>
                <a:lnTo>
                  <a:pt x="397669" y="6865144"/>
                </a:lnTo>
                <a:lnTo>
                  <a:pt x="7144" y="6865144"/>
                </a:lnTo>
                <a:close/>
              </a:path>
            </a:pathLst>
          </a:custGeom>
          <a:solidFill>
            <a:srgbClr val="EFEFE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Subtitle 5">
            <a:extLst>
              <a:ext uri="{FF2B5EF4-FFF2-40B4-BE49-F238E27FC236}">
                <a16:creationId xmlns:a16="http://schemas.microsoft.com/office/drawing/2014/main" id="{749A79C3-4EC7-4043-99C1-10F2D5DDF882}"/>
              </a:ext>
            </a:extLst>
          </p:cNvPr>
          <p:cNvSpPr txBox="1">
            <a:spLocks/>
          </p:cNvSpPr>
          <p:nvPr/>
        </p:nvSpPr>
        <p:spPr>
          <a:xfrm>
            <a:off x="1794709" y="4396317"/>
            <a:ext cx="5600700" cy="7087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sk-SK" sz="3200" b="1"/>
              <a:t>Ing. Lukáš Beňo</a:t>
            </a:r>
            <a:r>
              <a:rPr lang="en-US" sz="3200" b="1"/>
              <a:t>, PhD.</a:t>
            </a:r>
            <a:endParaRPr lang="en-US" sz="3200" b="1">
              <a:cs typeface="Calibri" panose="020F0502020204030204"/>
            </a:endParaRPr>
          </a:p>
        </p:txBody>
      </p:sp>
      <p:pic>
        <p:nvPicPr>
          <p:cNvPr id="19" name="Obrázok 6" descr="VÃ½sledok vyhÄ¾adÃ¡vania obrÃ¡zkov pre dopyt iot.png">
            <a:extLst>
              <a:ext uri="{FF2B5EF4-FFF2-40B4-BE49-F238E27FC236}">
                <a16:creationId xmlns:a16="http://schemas.microsoft.com/office/drawing/2014/main" id="{DA090C9B-F9E4-49CF-9186-78D9F56C304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855" y="3884023"/>
            <a:ext cx="3817602" cy="2973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2" descr="3D engine Unity – projekt Survival Shooter | Elearning portál -  Mechatronika FEI STU - Mechatronika.cool">
            <a:extLst>
              <a:ext uri="{FF2B5EF4-FFF2-40B4-BE49-F238E27FC236}">
                <a16:creationId xmlns:a16="http://schemas.microsoft.com/office/drawing/2014/main" id="{8821AEBC-C27A-4C95-AB78-1D2E3E1C9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216" y="-149830"/>
            <a:ext cx="3815221" cy="1504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77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B420FA5-C008-4695-ACFD-EC21AFBFEE9F}"/>
              </a:ext>
            </a:extLst>
          </p:cNvPr>
          <p:cNvSpPr/>
          <p:nvPr/>
        </p:nvSpPr>
        <p:spPr>
          <a:xfrm>
            <a:off x="6357842" y="-28575"/>
            <a:ext cx="57150" cy="6915150"/>
          </a:xfrm>
          <a:custGeom>
            <a:avLst/>
            <a:gdLst>
              <a:gd name="connsiteX0" fmla="*/ 28575 w 57150"/>
              <a:gd name="connsiteY0" fmla="*/ 28575 h 6915150"/>
              <a:gd name="connsiteX1" fmla="*/ 28575 w 57150"/>
              <a:gd name="connsiteY1" fmla="*/ 6886575 h 6915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150" h="6915150">
                <a:moveTo>
                  <a:pt x="28575" y="28575"/>
                </a:moveTo>
                <a:lnTo>
                  <a:pt x="28575" y="6886575"/>
                </a:lnTo>
              </a:path>
            </a:pathLst>
          </a:custGeom>
          <a:ln w="38100" cap="flat">
            <a:solidFill>
              <a:srgbClr val="0A193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B971D09-7218-4030-B36C-7A9C67C9C7EA}"/>
              </a:ext>
            </a:extLst>
          </p:cNvPr>
          <p:cNvSpPr/>
          <p:nvPr/>
        </p:nvSpPr>
        <p:spPr>
          <a:xfrm>
            <a:off x="-7144" y="-7144"/>
            <a:ext cx="4124325" cy="6867525"/>
          </a:xfrm>
          <a:custGeom>
            <a:avLst/>
            <a:gdLst>
              <a:gd name="connsiteX0" fmla="*/ 7144 w 4124325"/>
              <a:gd name="connsiteY0" fmla="*/ 7144 h 6867525"/>
              <a:gd name="connsiteX1" fmla="*/ 4122515 w 4124325"/>
              <a:gd name="connsiteY1" fmla="*/ 7144 h 6867525"/>
              <a:gd name="connsiteX2" fmla="*/ 4122515 w 4124325"/>
              <a:gd name="connsiteY2" fmla="*/ 6865144 h 6867525"/>
              <a:gd name="connsiteX3" fmla="*/ 7144 w 4124325"/>
              <a:gd name="connsiteY3" fmla="*/ 6865144 h 686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4325" h="6867525">
                <a:moveTo>
                  <a:pt x="7144" y="7144"/>
                </a:moveTo>
                <a:lnTo>
                  <a:pt x="4122515" y="7144"/>
                </a:lnTo>
                <a:lnTo>
                  <a:pt x="4122515" y="6865144"/>
                </a:lnTo>
                <a:lnTo>
                  <a:pt x="7144" y="6865144"/>
                </a:lnTo>
                <a:close/>
              </a:path>
            </a:pathLst>
          </a:custGeom>
          <a:solidFill>
            <a:srgbClr val="0A193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3061952-A0A7-4A61-B09B-4C4B55EB0478}"/>
              </a:ext>
            </a:extLst>
          </p:cNvPr>
          <p:cNvSpPr/>
          <p:nvPr/>
        </p:nvSpPr>
        <p:spPr>
          <a:xfrm>
            <a:off x="6247298" y="4681113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3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8"/>
                  <a:pt x="192258" y="245650"/>
                  <a:pt x="126397" y="245650"/>
                </a:cubicBezTo>
                <a:cubicBezTo>
                  <a:pt x="60535" y="245650"/>
                  <a:pt x="7143" y="192258"/>
                  <a:pt x="7143" y="126397"/>
                </a:cubicBezTo>
                <a:cubicBezTo>
                  <a:pt x="7143" y="60535"/>
                  <a:pt x="60535" y="7144"/>
                  <a:pt x="126397" y="7144"/>
                </a:cubicBezTo>
                <a:cubicBezTo>
                  <a:pt x="192258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E6FC1B5-7BFB-4AF8-B3DF-AFAC747D22E8}"/>
              </a:ext>
            </a:extLst>
          </p:cNvPr>
          <p:cNvSpPr/>
          <p:nvPr/>
        </p:nvSpPr>
        <p:spPr>
          <a:xfrm>
            <a:off x="6246658" y="3622171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3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8"/>
                  <a:pt x="192258" y="245650"/>
                  <a:pt x="126397" y="245650"/>
                </a:cubicBezTo>
                <a:cubicBezTo>
                  <a:pt x="60535" y="245650"/>
                  <a:pt x="7143" y="192258"/>
                  <a:pt x="7143" y="126397"/>
                </a:cubicBezTo>
                <a:cubicBezTo>
                  <a:pt x="7143" y="60535"/>
                  <a:pt x="60535" y="7144"/>
                  <a:pt x="126397" y="7144"/>
                </a:cubicBezTo>
                <a:cubicBezTo>
                  <a:pt x="192258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15F5D2E-32D7-4A6C-9B15-095DA837528F}"/>
              </a:ext>
            </a:extLst>
          </p:cNvPr>
          <p:cNvSpPr/>
          <p:nvPr/>
        </p:nvSpPr>
        <p:spPr>
          <a:xfrm>
            <a:off x="6225187" y="1855879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3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8"/>
                  <a:pt x="192258" y="245650"/>
                  <a:pt x="126397" y="245650"/>
                </a:cubicBezTo>
                <a:cubicBezTo>
                  <a:pt x="60535" y="245650"/>
                  <a:pt x="7143" y="192258"/>
                  <a:pt x="7143" y="126397"/>
                </a:cubicBezTo>
                <a:cubicBezTo>
                  <a:pt x="7143" y="60535"/>
                  <a:pt x="60535" y="7144"/>
                  <a:pt x="126397" y="7144"/>
                </a:cubicBezTo>
                <a:cubicBezTo>
                  <a:pt x="192258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FF5A4C0-6D09-4011-972E-91B41EAEE1AE}"/>
              </a:ext>
            </a:extLst>
          </p:cNvPr>
          <p:cNvSpPr/>
          <p:nvPr/>
        </p:nvSpPr>
        <p:spPr>
          <a:xfrm>
            <a:off x="6225187" y="739072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3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8"/>
                  <a:pt x="192258" y="245650"/>
                  <a:pt x="126397" y="245650"/>
                </a:cubicBezTo>
                <a:cubicBezTo>
                  <a:pt x="60535" y="245650"/>
                  <a:pt x="7143" y="192258"/>
                  <a:pt x="7143" y="126397"/>
                </a:cubicBezTo>
                <a:cubicBezTo>
                  <a:pt x="7143" y="60535"/>
                  <a:pt x="60535" y="7144"/>
                  <a:pt x="126397" y="7144"/>
                </a:cubicBezTo>
                <a:cubicBezTo>
                  <a:pt x="192258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8DD3A21-4639-4827-8C2A-58A6BF101CEF}"/>
              </a:ext>
            </a:extLst>
          </p:cNvPr>
          <p:cNvSpPr/>
          <p:nvPr/>
        </p:nvSpPr>
        <p:spPr>
          <a:xfrm>
            <a:off x="-7144" y="-7144"/>
            <a:ext cx="400050" cy="6867525"/>
          </a:xfrm>
          <a:custGeom>
            <a:avLst/>
            <a:gdLst>
              <a:gd name="connsiteX0" fmla="*/ 7144 w 400050"/>
              <a:gd name="connsiteY0" fmla="*/ 7144 h 6867525"/>
              <a:gd name="connsiteX1" fmla="*/ 397669 w 400050"/>
              <a:gd name="connsiteY1" fmla="*/ 7144 h 6867525"/>
              <a:gd name="connsiteX2" fmla="*/ 397669 w 400050"/>
              <a:gd name="connsiteY2" fmla="*/ 6865144 h 6867525"/>
              <a:gd name="connsiteX3" fmla="*/ 7144 w 400050"/>
              <a:gd name="connsiteY3" fmla="*/ 6865144 h 686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050" h="6867525">
                <a:moveTo>
                  <a:pt x="7144" y="7144"/>
                </a:moveTo>
                <a:lnTo>
                  <a:pt x="397669" y="7144"/>
                </a:lnTo>
                <a:lnTo>
                  <a:pt x="397669" y="6865144"/>
                </a:lnTo>
                <a:lnTo>
                  <a:pt x="7144" y="6865144"/>
                </a:lnTo>
                <a:close/>
              </a:path>
            </a:pathLst>
          </a:custGeom>
          <a:solidFill>
            <a:srgbClr val="EFEFE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B1F2A6A-B8B3-4BDA-BA55-97656474FE5D}"/>
              </a:ext>
            </a:extLst>
          </p:cNvPr>
          <p:cNvSpPr/>
          <p:nvPr/>
        </p:nvSpPr>
        <p:spPr>
          <a:xfrm>
            <a:off x="5051761" y="6295418"/>
            <a:ext cx="190500" cy="190500"/>
          </a:xfrm>
          <a:custGeom>
            <a:avLst/>
            <a:gdLst>
              <a:gd name="connsiteX0" fmla="*/ 183928 w 190500"/>
              <a:gd name="connsiteY0" fmla="*/ 95536 h 190500"/>
              <a:gd name="connsiteX1" fmla="*/ 95535 w 190500"/>
              <a:gd name="connsiteY1" fmla="*/ 183928 h 190500"/>
              <a:gd name="connsiteX2" fmla="*/ 7143 w 190500"/>
              <a:gd name="connsiteY2" fmla="*/ 95536 h 190500"/>
              <a:gd name="connsiteX3" fmla="*/ 95535 w 190500"/>
              <a:gd name="connsiteY3" fmla="*/ 7143 h 190500"/>
              <a:gd name="connsiteX4" fmla="*/ 183928 w 190500"/>
              <a:gd name="connsiteY4" fmla="*/ 9553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00" h="190500">
                <a:moveTo>
                  <a:pt x="183928" y="95536"/>
                </a:moveTo>
                <a:cubicBezTo>
                  <a:pt x="183928" y="144353"/>
                  <a:pt x="144353" y="183928"/>
                  <a:pt x="95535" y="183928"/>
                </a:cubicBezTo>
                <a:cubicBezTo>
                  <a:pt x="46718" y="183928"/>
                  <a:pt x="7143" y="144353"/>
                  <a:pt x="7143" y="95536"/>
                </a:cubicBezTo>
                <a:cubicBezTo>
                  <a:pt x="7143" y="46718"/>
                  <a:pt x="46717" y="7143"/>
                  <a:pt x="95535" y="7143"/>
                </a:cubicBezTo>
                <a:cubicBezTo>
                  <a:pt x="144353" y="7143"/>
                  <a:pt x="183928" y="46718"/>
                  <a:pt x="183928" y="95536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05407E6-52CE-46A0-9117-BF1BACD29F94}"/>
              </a:ext>
            </a:extLst>
          </p:cNvPr>
          <p:cNvSpPr/>
          <p:nvPr/>
        </p:nvSpPr>
        <p:spPr>
          <a:xfrm>
            <a:off x="11302206" y="6511757"/>
            <a:ext cx="190500" cy="190500"/>
          </a:xfrm>
          <a:custGeom>
            <a:avLst/>
            <a:gdLst>
              <a:gd name="connsiteX0" fmla="*/ 183927 w 190500"/>
              <a:gd name="connsiteY0" fmla="*/ 95536 h 190500"/>
              <a:gd name="connsiteX1" fmla="*/ 95535 w 190500"/>
              <a:gd name="connsiteY1" fmla="*/ 183928 h 190500"/>
              <a:gd name="connsiteX2" fmla="*/ 7143 w 190500"/>
              <a:gd name="connsiteY2" fmla="*/ 95536 h 190500"/>
              <a:gd name="connsiteX3" fmla="*/ 95535 w 190500"/>
              <a:gd name="connsiteY3" fmla="*/ 7143 h 190500"/>
              <a:gd name="connsiteX4" fmla="*/ 183927 w 190500"/>
              <a:gd name="connsiteY4" fmla="*/ 9553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00" h="190500">
                <a:moveTo>
                  <a:pt x="183927" y="95536"/>
                </a:moveTo>
                <a:cubicBezTo>
                  <a:pt x="183927" y="144353"/>
                  <a:pt x="144353" y="183928"/>
                  <a:pt x="95535" y="183928"/>
                </a:cubicBezTo>
                <a:cubicBezTo>
                  <a:pt x="46717" y="183928"/>
                  <a:pt x="7143" y="144354"/>
                  <a:pt x="7143" y="95536"/>
                </a:cubicBezTo>
                <a:cubicBezTo>
                  <a:pt x="7143" y="46718"/>
                  <a:pt x="46717" y="7143"/>
                  <a:pt x="95535" y="7143"/>
                </a:cubicBezTo>
                <a:cubicBezTo>
                  <a:pt x="144353" y="7143"/>
                  <a:pt x="183927" y="46718"/>
                  <a:pt x="183927" y="95536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971FA4E-3080-4F43-BFC8-1C6ABCFF01F6}"/>
              </a:ext>
            </a:extLst>
          </p:cNvPr>
          <p:cNvSpPr/>
          <p:nvPr/>
        </p:nvSpPr>
        <p:spPr>
          <a:xfrm>
            <a:off x="11301984" y="724186"/>
            <a:ext cx="190500" cy="190500"/>
          </a:xfrm>
          <a:custGeom>
            <a:avLst/>
            <a:gdLst>
              <a:gd name="connsiteX0" fmla="*/ 183928 w 190500"/>
              <a:gd name="connsiteY0" fmla="*/ 95536 h 190500"/>
              <a:gd name="connsiteX1" fmla="*/ 95535 w 190500"/>
              <a:gd name="connsiteY1" fmla="*/ 183928 h 190500"/>
              <a:gd name="connsiteX2" fmla="*/ 7143 w 190500"/>
              <a:gd name="connsiteY2" fmla="*/ 95536 h 190500"/>
              <a:gd name="connsiteX3" fmla="*/ 95535 w 190500"/>
              <a:gd name="connsiteY3" fmla="*/ 7144 h 190500"/>
              <a:gd name="connsiteX4" fmla="*/ 183928 w 190500"/>
              <a:gd name="connsiteY4" fmla="*/ 9553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00" h="190500">
                <a:moveTo>
                  <a:pt x="183928" y="95536"/>
                </a:moveTo>
                <a:cubicBezTo>
                  <a:pt x="183928" y="144353"/>
                  <a:pt x="144353" y="183928"/>
                  <a:pt x="95535" y="183928"/>
                </a:cubicBezTo>
                <a:cubicBezTo>
                  <a:pt x="46717" y="183928"/>
                  <a:pt x="7143" y="144353"/>
                  <a:pt x="7143" y="95536"/>
                </a:cubicBezTo>
                <a:cubicBezTo>
                  <a:pt x="7143" y="46718"/>
                  <a:pt x="46717" y="7144"/>
                  <a:pt x="95535" y="7144"/>
                </a:cubicBezTo>
                <a:cubicBezTo>
                  <a:pt x="144353" y="7144"/>
                  <a:pt x="183928" y="46718"/>
                  <a:pt x="183928" y="95536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9ABC871-4F63-485F-B900-425F59EBA8FB}"/>
              </a:ext>
            </a:extLst>
          </p:cNvPr>
          <p:cNvSpPr/>
          <p:nvPr/>
        </p:nvSpPr>
        <p:spPr>
          <a:xfrm>
            <a:off x="5717477" y="243269"/>
            <a:ext cx="190500" cy="190500"/>
          </a:xfrm>
          <a:custGeom>
            <a:avLst/>
            <a:gdLst>
              <a:gd name="connsiteX0" fmla="*/ 183928 w 190500"/>
              <a:gd name="connsiteY0" fmla="*/ 95536 h 190500"/>
              <a:gd name="connsiteX1" fmla="*/ 95536 w 190500"/>
              <a:gd name="connsiteY1" fmla="*/ 183928 h 190500"/>
              <a:gd name="connsiteX2" fmla="*/ 7143 w 190500"/>
              <a:gd name="connsiteY2" fmla="*/ 95536 h 190500"/>
              <a:gd name="connsiteX3" fmla="*/ 95536 w 190500"/>
              <a:gd name="connsiteY3" fmla="*/ 7144 h 190500"/>
              <a:gd name="connsiteX4" fmla="*/ 183928 w 190500"/>
              <a:gd name="connsiteY4" fmla="*/ 9553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00" h="190500">
                <a:moveTo>
                  <a:pt x="183928" y="95536"/>
                </a:moveTo>
                <a:cubicBezTo>
                  <a:pt x="183928" y="144353"/>
                  <a:pt x="144353" y="183928"/>
                  <a:pt x="95536" y="183928"/>
                </a:cubicBezTo>
                <a:cubicBezTo>
                  <a:pt x="46718" y="183928"/>
                  <a:pt x="7143" y="144353"/>
                  <a:pt x="7143" y="95536"/>
                </a:cubicBezTo>
                <a:cubicBezTo>
                  <a:pt x="7143" y="46718"/>
                  <a:pt x="46718" y="7144"/>
                  <a:pt x="95536" y="7144"/>
                </a:cubicBezTo>
                <a:cubicBezTo>
                  <a:pt x="144353" y="7144"/>
                  <a:pt x="183928" y="46718"/>
                  <a:pt x="183928" y="95536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FD566F-BCA8-4461-842C-34C41943214A}"/>
              </a:ext>
            </a:extLst>
          </p:cNvPr>
          <p:cNvSpPr txBox="1"/>
          <p:nvPr/>
        </p:nvSpPr>
        <p:spPr>
          <a:xfrm>
            <a:off x="5456252" y="607648"/>
            <a:ext cx="641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chemeClr val="accent2"/>
                </a:solidFill>
              </a:rP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77C06D-BF79-4688-9CEC-8B6ABF03513C}"/>
              </a:ext>
            </a:extLst>
          </p:cNvPr>
          <p:cNvSpPr txBox="1"/>
          <p:nvPr/>
        </p:nvSpPr>
        <p:spPr>
          <a:xfrm>
            <a:off x="6674759" y="91138"/>
            <a:ext cx="5118622" cy="17113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strike="sngStrike">
                <a:solidFill>
                  <a:schemeClr val="accent1"/>
                </a:solidFill>
              </a:rPr>
              <a:t>Cloud </a:t>
            </a:r>
            <a:r>
              <a:rPr lang="en-US" b="1" strike="sngStrike" err="1">
                <a:solidFill>
                  <a:schemeClr val="accent1"/>
                </a:solidFill>
              </a:rPr>
              <a:t>a</a:t>
            </a:r>
            <a:r>
              <a:rPr lang="en-US" b="1" strike="sngStrike">
                <a:solidFill>
                  <a:schemeClr val="accent1"/>
                </a:solidFill>
              </a:rPr>
              <a:t> Edge computing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trike="sngStrike">
                <a:solidFill>
                  <a:schemeClr val="accent1"/>
                </a:solidFill>
              </a:rPr>
              <a:t>Príprava prostredia (1 bod)</a:t>
            </a:r>
            <a:endParaRPr lang="en-US" strike="sngStrike">
              <a:solidFill>
                <a:schemeClr val="accent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trike="sngStrike">
                <a:solidFill>
                  <a:schemeClr val="accent1"/>
                </a:solidFill>
              </a:rPr>
              <a:t>Registrácia Azure + prehľad dostupných servisov (1 bod) </a:t>
            </a:r>
            <a:endParaRPr lang="en-US" strike="sngStrike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961D8E-A133-4206-9086-807B48C7560D}"/>
              </a:ext>
            </a:extLst>
          </p:cNvPr>
          <p:cNvSpPr txBox="1"/>
          <p:nvPr/>
        </p:nvSpPr>
        <p:spPr>
          <a:xfrm>
            <a:off x="5456252" y="1736388"/>
            <a:ext cx="641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chemeClr val="accent1"/>
                </a:solidFill>
              </a:rPr>
              <a:t>02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57CB6A-827E-4501-9278-F7FB6CE48591}"/>
              </a:ext>
            </a:extLst>
          </p:cNvPr>
          <p:cNvSpPr txBox="1"/>
          <p:nvPr/>
        </p:nvSpPr>
        <p:spPr>
          <a:xfrm>
            <a:off x="5477723" y="3471236"/>
            <a:ext cx="641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chemeClr val="accent2"/>
                </a:solidFill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4054E0-C959-4D18-9594-26DA9657B162}"/>
              </a:ext>
            </a:extLst>
          </p:cNvPr>
          <p:cNvSpPr txBox="1"/>
          <p:nvPr/>
        </p:nvSpPr>
        <p:spPr>
          <a:xfrm>
            <a:off x="5501378" y="4547054"/>
            <a:ext cx="641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chemeClr val="accent1"/>
                </a:solidFill>
              </a:rPr>
              <a:t>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A10A29-C34C-4AE1-A108-3CB7D913944A}"/>
              </a:ext>
            </a:extLst>
          </p:cNvPr>
          <p:cNvSpPr txBox="1"/>
          <p:nvPr/>
        </p:nvSpPr>
        <p:spPr>
          <a:xfrm>
            <a:off x="990153" y="3044280"/>
            <a:ext cx="25230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k-SK" sz="3200" b="1">
                <a:solidFill>
                  <a:schemeClr val="bg1"/>
                </a:solidFill>
                <a:latin typeface="+mj-lt"/>
              </a:rPr>
              <a:t>Obsah cvičení</a:t>
            </a:r>
            <a:endParaRPr lang="en-US" sz="3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29D776A-CE5B-41A0-829A-0428043F0AF0}"/>
              </a:ext>
            </a:extLst>
          </p:cNvPr>
          <p:cNvSpPr/>
          <p:nvPr/>
        </p:nvSpPr>
        <p:spPr>
          <a:xfrm>
            <a:off x="6277316" y="5498760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3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8"/>
                  <a:pt x="192258" y="245650"/>
                  <a:pt x="126397" y="245650"/>
                </a:cubicBezTo>
                <a:cubicBezTo>
                  <a:pt x="60535" y="245650"/>
                  <a:pt x="7143" y="192258"/>
                  <a:pt x="7143" y="126397"/>
                </a:cubicBezTo>
                <a:cubicBezTo>
                  <a:pt x="7143" y="60535"/>
                  <a:pt x="60535" y="7144"/>
                  <a:pt x="126397" y="7144"/>
                </a:cubicBezTo>
                <a:cubicBezTo>
                  <a:pt x="192258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E504F7-F6E5-4EF7-AF02-305FD6440C9D}"/>
              </a:ext>
            </a:extLst>
          </p:cNvPr>
          <p:cNvSpPr txBox="1"/>
          <p:nvPr/>
        </p:nvSpPr>
        <p:spPr>
          <a:xfrm>
            <a:off x="5508381" y="5346052"/>
            <a:ext cx="641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chemeClr val="accent2"/>
                </a:solidFill>
              </a:rPr>
              <a:t>05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1F4C061-C5DF-464D-89BD-D4E7A7C5168B}"/>
              </a:ext>
            </a:extLst>
          </p:cNvPr>
          <p:cNvSpPr/>
          <p:nvPr/>
        </p:nvSpPr>
        <p:spPr>
          <a:xfrm>
            <a:off x="6269954" y="6141675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3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8"/>
                  <a:pt x="192258" y="245650"/>
                  <a:pt x="126397" y="245650"/>
                </a:cubicBezTo>
                <a:cubicBezTo>
                  <a:pt x="60535" y="245650"/>
                  <a:pt x="7143" y="192258"/>
                  <a:pt x="7143" y="126397"/>
                </a:cubicBezTo>
                <a:cubicBezTo>
                  <a:pt x="7143" y="60535"/>
                  <a:pt x="60535" y="7144"/>
                  <a:pt x="126397" y="7144"/>
                </a:cubicBezTo>
                <a:cubicBezTo>
                  <a:pt x="192258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37A5DF-57C5-4698-B012-665D99A8DB7A}"/>
              </a:ext>
            </a:extLst>
          </p:cNvPr>
          <p:cNvSpPr txBox="1"/>
          <p:nvPr/>
        </p:nvSpPr>
        <p:spPr>
          <a:xfrm>
            <a:off x="5501020" y="5988967"/>
            <a:ext cx="641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chemeClr val="accent1"/>
                </a:solidFill>
              </a:rPr>
              <a:t>06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0ADC9D-0345-4FA3-9507-36F9F5623F16}"/>
              </a:ext>
            </a:extLst>
          </p:cNvPr>
          <p:cNvSpPr txBox="1"/>
          <p:nvPr/>
        </p:nvSpPr>
        <p:spPr>
          <a:xfrm>
            <a:off x="6689662" y="1827743"/>
            <a:ext cx="5690266" cy="15728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strike="sngStrike">
                <a:solidFill>
                  <a:schemeClr val="accent1"/>
                </a:solidFill>
              </a:rPr>
              <a:t>Docker a </a:t>
            </a:r>
            <a:r>
              <a:rPr lang="sk-SK" b="1" strike="sngStrike" err="1">
                <a:solidFill>
                  <a:schemeClr val="accent1"/>
                </a:solidFill>
              </a:rPr>
              <a:t>kontajnerizácia</a:t>
            </a:r>
            <a:r>
              <a:rPr lang="sk-SK" b="1" strike="sngStrike">
                <a:solidFill>
                  <a:schemeClr val="accent1"/>
                </a:solidFill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trike="sngStrike">
                <a:solidFill>
                  <a:schemeClr val="accent1"/>
                </a:solidFill>
              </a:rPr>
              <a:t>Vytvorenie kontajnera (1 bod)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trike="sngStrike">
                <a:solidFill>
                  <a:schemeClr val="accent1"/>
                </a:solidFill>
              </a:rPr>
              <a:t>Prehľad základných operácií a možnosti spustenia (1 bod)</a:t>
            </a:r>
            <a:endParaRPr lang="en-US" strike="sngStrike">
              <a:solidFill>
                <a:schemeClr val="accent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14F626-363F-402D-9CC7-8C1517B51437}"/>
              </a:ext>
            </a:extLst>
          </p:cNvPr>
          <p:cNvSpPr txBox="1"/>
          <p:nvPr/>
        </p:nvSpPr>
        <p:spPr>
          <a:xfrm>
            <a:off x="6772119" y="5438283"/>
            <a:ext cx="420787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sk-SK" b="1">
                <a:solidFill>
                  <a:schemeClr val="accent1"/>
                </a:solidFill>
              </a:rPr>
              <a:t>Prezentácia zadaní</a:t>
            </a:r>
            <a:r>
              <a:rPr lang="en-US" b="1">
                <a:solidFill>
                  <a:schemeClr val="accent1"/>
                </a:solidFill>
              </a:rPr>
              <a:t> </a:t>
            </a:r>
            <a:r>
              <a:rPr lang="en-US">
                <a:solidFill>
                  <a:schemeClr val="accent1"/>
                </a:solidFill>
              </a:rPr>
              <a:t>(10 </a:t>
            </a:r>
            <a:r>
              <a:rPr lang="sk-SK">
                <a:solidFill>
                  <a:schemeClr val="accent1"/>
                </a:solidFill>
              </a:rPr>
              <a:t>bodov</a:t>
            </a:r>
            <a:r>
              <a:rPr lang="en-US">
                <a:solidFill>
                  <a:schemeClr val="accent1"/>
                </a:solidFill>
              </a:rPr>
              <a:t>)</a:t>
            </a:r>
            <a:endParaRPr lang="en-US" b="1">
              <a:solidFill>
                <a:schemeClr val="accent1"/>
              </a:solidFill>
              <a:ea typeface="+mn-lt"/>
              <a:cs typeface="+mn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68E0C7-20EE-45FA-AAC8-33206C6A0D59}"/>
              </a:ext>
            </a:extLst>
          </p:cNvPr>
          <p:cNvSpPr txBox="1"/>
          <p:nvPr/>
        </p:nvSpPr>
        <p:spPr>
          <a:xfrm>
            <a:off x="6743287" y="3548180"/>
            <a:ext cx="42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>
              <a:solidFill>
                <a:schemeClr val="accent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089927-6737-4CD5-8B79-5F314B25AB2B}"/>
              </a:ext>
            </a:extLst>
          </p:cNvPr>
          <p:cNvSpPr txBox="1"/>
          <p:nvPr/>
        </p:nvSpPr>
        <p:spPr>
          <a:xfrm>
            <a:off x="6711132" y="3585979"/>
            <a:ext cx="6149462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sk-SK" b="1">
                <a:solidFill>
                  <a:schemeClr val="accent1"/>
                </a:solidFill>
              </a:rPr>
              <a:t>Špecifikácia zadania, </a:t>
            </a:r>
            <a:r>
              <a:rPr lang="en-US" b="1">
                <a:solidFill>
                  <a:srgbClr val="142132"/>
                </a:solidFill>
                <a:ea typeface="+mn-lt"/>
                <a:cs typeface="+mn-lt"/>
              </a:rPr>
              <a:t>Docker Compose, Nginx </a:t>
            </a:r>
            <a:r>
              <a:rPr lang="en-US" b="1">
                <a:solidFill>
                  <a:schemeClr val="accent1"/>
                </a:solidFill>
                <a:ea typeface="+mn-lt"/>
                <a:cs typeface="+mn-lt"/>
              </a:rPr>
              <a:t>a </a:t>
            </a:r>
            <a:r>
              <a:rPr lang="sk-SK" b="1">
                <a:solidFill>
                  <a:schemeClr val="accent1"/>
                </a:solidFill>
                <a:ea typeface="+mn-lt"/>
                <a:cs typeface="+mn-lt"/>
              </a:rPr>
              <a:t>práca na zadaní </a:t>
            </a:r>
            <a:r>
              <a:rPr lang="sk-SK">
                <a:solidFill>
                  <a:schemeClr val="accent1"/>
                </a:solidFill>
                <a:ea typeface="+mn-lt"/>
                <a:cs typeface="+mn-lt"/>
              </a:rPr>
              <a:t>(2 body), </a:t>
            </a:r>
            <a:r>
              <a:rPr lang="sk-SK" b="1">
                <a:solidFill>
                  <a:schemeClr val="accent1"/>
                </a:solidFill>
                <a:ea typeface="+mn-lt"/>
                <a:cs typeface="+mn-lt"/>
              </a:rPr>
              <a:t>uloženie Docker image vo vzdialenom repozitári, práca na zadaní </a:t>
            </a:r>
            <a:endParaRPr lang="sk-SK">
              <a:solidFill>
                <a:schemeClr val="accent1"/>
              </a:solidFill>
              <a:ea typeface="+mn-lt"/>
              <a:cs typeface="+mn-lt"/>
            </a:endParaRPr>
          </a:p>
          <a:p>
            <a:endParaRPr lang="sk-SK" b="1">
              <a:solidFill>
                <a:schemeClr val="accen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814682-8057-A71A-D593-6718CEC0C3DF}"/>
              </a:ext>
            </a:extLst>
          </p:cNvPr>
          <p:cNvSpPr txBox="1"/>
          <p:nvPr/>
        </p:nvSpPr>
        <p:spPr>
          <a:xfrm>
            <a:off x="6709589" y="4512131"/>
            <a:ext cx="5417019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b="1">
                <a:solidFill>
                  <a:schemeClr val="accent1"/>
                </a:solidFill>
                <a:ea typeface="+mn-lt"/>
                <a:cs typeface="+mn-lt"/>
              </a:rPr>
              <a:t> Práca na zadaní </a:t>
            </a:r>
            <a:r>
              <a:rPr lang="sk-SK">
                <a:solidFill>
                  <a:schemeClr val="accent1"/>
                </a:solidFill>
                <a:ea typeface="+mn-lt"/>
                <a:cs typeface="+mn-lt"/>
              </a:rPr>
              <a:t>(1 bod) </a:t>
            </a:r>
            <a:r>
              <a:rPr lang="sk-SK" b="1">
                <a:solidFill>
                  <a:schemeClr val="accent1"/>
                </a:solidFill>
                <a:ea typeface="+mn-lt"/>
                <a:cs typeface="+mn-lt"/>
              </a:rPr>
              <a:t>+ </a:t>
            </a:r>
            <a:r>
              <a:rPr lang="sk-SK" b="1">
                <a:solidFill>
                  <a:schemeClr val="accent2"/>
                </a:solidFill>
                <a:ea typeface="+mn-lt"/>
                <a:cs typeface="+mn-lt"/>
              </a:rPr>
              <a:t>test</a:t>
            </a:r>
            <a:r>
              <a:rPr lang="sk-SK" b="1">
                <a:solidFill>
                  <a:schemeClr val="accent1"/>
                </a:solidFill>
                <a:ea typeface="+mn-lt"/>
                <a:cs typeface="+mn-lt"/>
              </a:rPr>
              <a:t> </a:t>
            </a:r>
            <a:r>
              <a:rPr lang="sk-SK">
                <a:solidFill>
                  <a:schemeClr val="accent1"/>
                </a:solidFill>
                <a:ea typeface="+mn-lt"/>
                <a:cs typeface="+mn-lt"/>
              </a:rPr>
              <a:t>(8 bodov)</a:t>
            </a:r>
            <a:endParaRPr lang="sk-SK" b="1">
              <a:solidFill>
                <a:schemeClr val="accent1"/>
              </a:solidFill>
              <a:ea typeface="+mn-lt"/>
              <a:cs typeface="+mn-lt"/>
            </a:endParaRPr>
          </a:p>
          <a:p>
            <a:endParaRPr lang="sk-SK">
              <a:solidFill>
                <a:schemeClr val="accent1"/>
              </a:solidFill>
            </a:endParaRPr>
          </a:p>
          <a:p>
            <a:r>
              <a:rPr lang="sk-SK" b="1">
                <a:solidFill>
                  <a:schemeClr val="accent1"/>
                </a:solidFill>
              </a:rPr>
              <a:t> </a:t>
            </a:r>
            <a:endParaRPr lang="en-US" b="1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D7F40F-60D4-7E8C-C072-2CAF96D23A21}"/>
              </a:ext>
            </a:extLst>
          </p:cNvPr>
          <p:cNvSpPr txBox="1"/>
          <p:nvPr/>
        </p:nvSpPr>
        <p:spPr>
          <a:xfrm>
            <a:off x="6743288" y="6109666"/>
            <a:ext cx="498635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sk-SK" b="1">
                <a:solidFill>
                  <a:schemeClr val="accent1"/>
                </a:solidFill>
              </a:rPr>
              <a:t>Konzultácie zadaní a testov - </a:t>
            </a:r>
            <a:r>
              <a:rPr lang="sk-SK">
                <a:solidFill>
                  <a:schemeClr val="accent1"/>
                </a:solidFill>
              </a:rPr>
              <a:t>podľa potreby - online</a:t>
            </a:r>
            <a:endParaRPr lang="en-US">
              <a:solidFill>
                <a:schemeClr val="accent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2403075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2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2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/>
      <p:bldP spid="23" grpId="0"/>
      <p:bldP spid="25" grpId="0"/>
      <p:bldP spid="27" grpId="0"/>
      <p:bldP spid="29" grpId="0"/>
      <p:bldP spid="30" grpId="0" animBg="1"/>
      <p:bldP spid="31" grpId="0"/>
      <p:bldP spid="33" grpId="0" animBg="1"/>
      <p:bldP spid="34" grpId="0"/>
      <p:bldP spid="36" grpId="0"/>
      <p:bldP spid="40" grpId="0"/>
      <p:bldP spid="41" grpId="0"/>
      <p:bldP spid="42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4901270" y="-46140"/>
            <a:ext cx="9055235" cy="1115610"/>
            <a:chOff x="2977622" y="-7144"/>
            <a:chExt cx="6452656" cy="126682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8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>
                  <a:solidFill>
                    <a:srgbClr val="F18003"/>
                  </a:solidFill>
                  <a:latin typeface="+mj-lt"/>
                </a:rPr>
                <a:t>Test</a:t>
              </a:r>
            </a:p>
          </p:txBody>
        </p:sp>
      </p:grp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3</a:t>
            </a:fld>
            <a:endParaRPr lang="en-US" sz="1800" b="1">
              <a:solidFill>
                <a:schemeClr val="tx1"/>
              </a:solidFill>
            </a:endParaRPr>
          </a:p>
        </p:txBody>
      </p:sp>
      <p:pic>
        <p:nvPicPr>
          <p:cNvPr id="1026" name="Picture 2" descr="Test - Free education icons">
            <a:extLst>
              <a:ext uri="{FF2B5EF4-FFF2-40B4-BE49-F238E27FC236}">
                <a16:creationId xmlns:a16="http://schemas.microsoft.com/office/drawing/2014/main" id="{F3F7DC93-3E22-46A2-9870-E913FBAAF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236" y="4006674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A2B3F7-583D-43A4-B10E-4C5D9369C070}"/>
              </a:ext>
            </a:extLst>
          </p:cNvPr>
          <p:cNvSpPr txBox="1"/>
          <p:nvPr/>
        </p:nvSpPr>
        <p:spPr>
          <a:xfrm>
            <a:off x="634998" y="1517965"/>
            <a:ext cx="10190019" cy="46315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sz="2600" b="1"/>
              <a:t>Podmienky:</a:t>
            </a: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600" b="1"/>
              <a:t>Po</a:t>
            </a:r>
            <a:r>
              <a:rPr lang="sk-SK" sz="2600" b="1"/>
              <a:t>čas testu </a:t>
            </a:r>
            <a:r>
              <a:rPr lang="sk-SK" sz="2600" b="1">
                <a:solidFill>
                  <a:schemeClr val="accent2"/>
                </a:solidFill>
              </a:rPr>
              <a:t>nie je umožnené opustiť </a:t>
            </a:r>
            <a:r>
              <a:rPr lang="sk-SK" sz="2600" b="1"/>
              <a:t>cvičenie.</a:t>
            </a: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sk-SK" sz="2600" b="1"/>
              <a:t>Test je ohraničený na 11 minút – </a:t>
            </a:r>
            <a:r>
              <a:rPr lang="sk-SK" sz="2600" b="1">
                <a:solidFill>
                  <a:schemeClr val="accent2"/>
                </a:solidFill>
              </a:rPr>
              <a:t>je nutné odovzdať test v rámci 11 minút, inak sa test uzavrie</a:t>
            </a:r>
            <a:r>
              <a:rPr lang="sk-SK" sz="2600" b="1"/>
              <a:t> a odpovede budú stratené, čo ma za následok 0 bodov z testu. </a:t>
            </a: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sk-SK" sz="2600" b="1"/>
              <a:t>Správna odpoveď pri výbere je </a:t>
            </a:r>
            <a:r>
              <a:rPr lang="sk-SK" sz="2600" b="1">
                <a:solidFill>
                  <a:schemeClr val="accent2"/>
                </a:solidFill>
              </a:rPr>
              <a:t>vždy jedna</a:t>
            </a:r>
            <a:r>
              <a:rPr lang="sk-SK" sz="2600" b="1"/>
              <a:t>.</a:t>
            </a: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sk-SK" sz="2600" b="1"/>
              <a:t>Test je </a:t>
            </a:r>
            <a:r>
              <a:rPr lang="sk-SK" sz="2600" b="1">
                <a:solidFill>
                  <a:schemeClr val="accent2"/>
                </a:solidFill>
              </a:rPr>
              <a:t>otvorený iba </a:t>
            </a:r>
            <a:r>
              <a:rPr lang="sk-SK" sz="2600" b="1"/>
              <a:t>pre osoby z cvičenia, </a:t>
            </a:r>
          </a:p>
          <a:p>
            <a:pPr lvl="1">
              <a:lnSpc>
                <a:spcPct val="150000"/>
              </a:lnSpc>
            </a:pPr>
            <a:r>
              <a:rPr lang="sk-SK" sz="2600" b="1"/>
              <a:t>ktoré na cvičenie patria.</a:t>
            </a:r>
          </a:p>
        </p:txBody>
      </p:sp>
    </p:spTree>
    <p:extLst>
      <p:ext uri="{BB962C8B-B14F-4D97-AF65-F5344CB8AC3E}">
        <p14:creationId xmlns:p14="http://schemas.microsoft.com/office/powerpoint/2010/main" val="4161596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4901270" y="-46140"/>
            <a:ext cx="9055235" cy="1115610"/>
            <a:chOff x="2977622" y="-7144"/>
            <a:chExt cx="6452656" cy="126682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8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k-SK" sz="4000" b="1">
                  <a:solidFill>
                    <a:prstClr val="white"/>
                  </a:solidFill>
                  <a:latin typeface="+mj-lt"/>
                </a:rPr>
                <a:t>Definícia zadania</a:t>
              </a:r>
              <a:endParaRPr lang="en-US" sz="4000" b="1">
                <a:solidFill>
                  <a:schemeClr val="bg1"/>
                </a:solidFill>
                <a:latin typeface="+mj-lt"/>
              </a:endParaRPr>
            </a:p>
          </p:txBody>
        </p:sp>
      </p:grpSp>
      <p:pic>
        <p:nvPicPr>
          <p:cNvPr id="5" name="Picture 2" descr="docker - Official Image | Docker Hub">
            <a:extLst>
              <a:ext uri="{FF2B5EF4-FFF2-40B4-BE49-F238E27FC236}">
                <a16:creationId xmlns:a16="http://schemas.microsoft.com/office/drawing/2014/main" id="{8348A9FE-E1E5-444D-89C2-76F2A6647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4909" y="4041285"/>
            <a:ext cx="2581275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26D58D-D4F9-4FA6-9388-A46511A1AF16}"/>
              </a:ext>
            </a:extLst>
          </p:cNvPr>
          <p:cNvSpPr txBox="1"/>
          <p:nvPr/>
        </p:nvSpPr>
        <p:spPr>
          <a:xfrm>
            <a:off x="276063" y="172755"/>
            <a:ext cx="8637028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400" b="1"/>
              <a:t>Vytvorenie kontajnera </a:t>
            </a:r>
            <a:r>
              <a:rPr lang="sk-SK" sz="2400" i="1">
                <a:solidFill>
                  <a:schemeClr val="accent2"/>
                </a:solidFill>
              </a:rPr>
              <a:t>(1 bod)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sk-SK" sz="2400"/>
              <a:t>S aplikáciu je možné interagovať  </a:t>
            </a:r>
            <a:r>
              <a:rPr lang="sk-SK" sz="2400" i="1">
                <a:solidFill>
                  <a:schemeClr val="accent2"/>
                </a:solidFill>
              </a:rPr>
              <a:t>(2 body)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sk-SK" sz="2400" i="1"/>
              <a:t> </a:t>
            </a:r>
            <a:r>
              <a:rPr lang="sk-SK" sz="2400"/>
              <a:t>Klávesnica, WEB API a podobne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sk-SK" sz="2400"/>
              <a:t>Perzistovanie zmien do </a:t>
            </a:r>
            <a:r>
              <a:rPr lang="sk-SK" sz="2400" i="1"/>
              <a:t>volume</a:t>
            </a:r>
            <a:r>
              <a:rPr lang="sk-SK" sz="2400"/>
              <a:t> </a:t>
            </a:r>
            <a:r>
              <a:rPr lang="sk-SK" sz="2400" i="1">
                <a:solidFill>
                  <a:schemeClr val="accent2"/>
                </a:solidFill>
              </a:rPr>
              <a:t>(2 body)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400" b="1"/>
              <a:t>Kontajner je uložení vzdialenom docker repozitári </a:t>
            </a:r>
            <a:r>
              <a:rPr lang="sk-SK" sz="2400" i="1">
                <a:solidFill>
                  <a:schemeClr val="accent2"/>
                </a:solidFill>
              </a:rPr>
              <a:t>(1 bod)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sk-SK" sz="2400"/>
              <a:t>Napríklad </a:t>
            </a:r>
            <a:r>
              <a:rPr lang="sk-SK" sz="2400" i="1"/>
              <a:t>Azure Container registry </a:t>
            </a:r>
            <a:r>
              <a:rPr lang="sk-SK" sz="2400"/>
              <a:t>alebo </a:t>
            </a:r>
            <a:r>
              <a:rPr lang="sk-SK" sz="2400" i="1"/>
              <a:t>Docker Hub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400" b="1"/>
              <a:t>Možnosť spustiť viacero </a:t>
            </a:r>
            <a:r>
              <a:rPr lang="en-US" sz="2400" b="1" i="0">
                <a:solidFill>
                  <a:srgbClr val="333333"/>
                </a:solidFill>
                <a:effectLst/>
                <a:latin typeface="+mj-lt"/>
              </a:rPr>
              <a:t>inštancií</a:t>
            </a:r>
            <a:r>
              <a:rPr lang="sk-SK" sz="2400" b="1"/>
              <a:t> kontajnera 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sk-SK" sz="2400"/>
              <a:t>Manuálne spustenie </a:t>
            </a:r>
            <a:r>
              <a:rPr lang="sk-SK" sz="2400" i="1">
                <a:solidFill>
                  <a:schemeClr val="accent2"/>
                </a:solidFill>
              </a:rPr>
              <a:t>(1 bod)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sk-SK" sz="2400"/>
              <a:t>Docker </a:t>
            </a:r>
            <a:r>
              <a:rPr lang="en-US" sz="2400" b="0" i="0">
                <a:solidFill>
                  <a:srgbClr val="142132"/>
                </a:solidFill>
                <a:effectLst/>
                <a:latin typeface="IndivisibleV"/>
              </a:rPr>
              <a:t>Compose </a:t>
            </a:r>
            <a:r>
              <a:rPr lang="sk-SK" sz="2400" i="1">
                <a:solidFill>
                  <a:schemeClr val="accent2"/>
                </a:solidFill>
                <a:latin typeface="IndivisibleV"/>
              </a:rPr>
              <a:t>(1 bod)</a:t>
            </a:r>
            <a:endParaRPr lang="sk-SK" sz="2400" i="1">
              <a:solidFill>
                <a:schemeClr val="accent2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400" b="1"/>
              <a:t>Odpovedať na</a:t>
            </a:r>
            <a:r>
              <a:rPr lang="en-US" sz="2400" b="1"/>
              <a:t> </a:t>
            </a:r>
            <a:r>
              <a:rPr lang="sk-SK" sz="2400" b="1"/>
              <a:t>otázky ohľadom štruktúry kontajnera a fungovania aplikácie </a:t>
            </a:r>
            <a:r>
              <a:rPr lang="sk-SK" sz="2400" i="1">
                <a:solidFill>
                  <a:schemeClr val="accent2"/>
                </a:solidFill>
              </a:rPr>
              <a:t>(2 body)</a:t>
            </a:r>
          </a:p>
        </p:txBody>
      </p: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4</a:t>
            </a:fld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098F61-46C6-E228-9C3D-CD6469BF0DA8}"/>
              </a:ext>
            </a:extLst>
          </p:cNvPr>
          <p:cNvSpPr txBox="1">
            <a:spLocks/>
          </p:cNvSpPr>
          <p:nvPr/>
        </p:nvSpPr>
        <p:spPr>
          <a:xfrm>
            <a:off x="8800659" y="1371219"/>
            <a:ext cx="3240498" cy="154193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sk-SK" sz="2000" b="1">
                <a:solidFill>
                  <a:srgbClr val="FF0000"/>
                </a:solidFill>
              </a:rPr>
              <a:t>Penalizácia - </a:t>
            </a:r>
            <a:endParaRPr lang="en-US" sz="2000">
              <a:solidFill>
                <a:srgbClr val="FF0000"/>
              </a:solidFill>
            </a:endParaRPr>
          </a:p>
          <a:p>
            <a:pPr algn="ctr"/>
            <a:r>
              <a:rPr lang="sk-SK" sz="2000" b="1">
                <a:solidFill>
                  <a:srgbClr val="FF0000"/>
                </a:solidFill>
              </a:rPr>
              <a:t>každý deň oneskorenia, </a:t>
            </a:r>
            <a:endParaRPr lang="en-US" sz="2000">
              <a:solidFill>
                <a:srgbClr val="FF0000"/>
              </a:solidFill>
            </a:endParaRPr>
          </a:p>
          <a:p>
            <a:pPr algn="ctr"/>
            <a:r>
              <a:rPr lang="sk-SK" sz="2000" b="1">
                <a:solidFill>
                  <a:srgbClr val="FF0000"/>
                </a:solidFill>
              </a:rPr>
              <a:t>1 bod stratený </a:t>
            </a:r>
            <a:endParaRPr lang="en-US" sz="2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406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-1730439" y="-90520"/>
            <a:ext cx="9055235" cy="1115610"/>
            <a:chOff x="2977622" y="-7144"/>
            <a:chExt cx="6452656" cy="126682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8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k-SK" sz="4000" b="1">
                  <a:solidFill>
                    <a:prstClr val="white"/>
                  </a:solidFill>
                  <a:latin typeface="+mj-lt"/>
                </a:rPr>
                <a:t>Nginx</a:t>
              </a:r>
              <a:r>
                <a:rPr lang="en-US" sz="4000" b="1">
                  <a:solidFill>
                    <a:prstClr val="white"/>
                  </a:solidFill>
                  <a:latin typeface="+mj-lt"/>
                </a:rPr>
                <a:t> </a:t>
              </a:r>
              <a:r>
                <a:rPr lang="sk-SK" sz="4000" b="1">
                  <a:solidFill>
                    <a:prstClr val="white"/>
                  </a:solidFill>
                  <a:latin typeface="+mj-lt"/>
                </a:rPr>
                <a:t>– load balancer</a:t>
              </a:r>
              <a:endParaRPr lang="en-US" sz="4000" b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5</a:t>
            </a:fld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47942C-693D-4FAD-BBA4-3D53E131B80E}"/>
              </a:ext>
            </a:extLst>
          </p:cNvPr>
          <p:cNvSpPr txBox="1"/>
          <p:nvPr/>
        </p:nvSpPr>
        <p:spPr>
          <a:xfrm>
            <a:off x="221672" y="1052584"/>
            <a:ext cx="10584872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400" b="1">
                <a:solidFill>
                  <a:schemeClr val="accent2"/>
                </a:solidFill>
              </a:rPr>
              <a:t>Vyvažovanie záťaže </a:t>
            </a:r>
            <a:r>
              <a:rPr lang="sk-SK" sz="2400" b="1"/>
              <a:t>naprieč </a:t>
            </a:r>
            <a:r>
              <a:rPr lang="sk-SK" sz="2400" b="1">
                <a:solidFill>
                  <a:schemeClr val="accent2"/>
                </a:solidFill>
              </a:rPr>
              <a:t>viacerými inštanciami </a:t>
            </a:r>
            <a:r>
              <a:rPr lang="sk-SK" sz="2400" b="1"/>
              <a:t>aplikácií prostredníctvom distribúcie prevádzky na niekoľko aplikačných serverov - optimalizácia využitia zdrojov.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sk-SK" sz="2400" b="1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400" b="1">
                <a:solidFill>
                  <a:schemeClr val="accent2"/>
                </a:solidFill>
              </a:rPr>
              <a:t>Maximalizácia priepustnosti, zníženie latencie </a:t>
            </a:r>
            <a:r>
              <a:rPr lang="sk-SK" sz="2400" b="1"/>
              <a:t>a zabezpečenie konfigurácií odolných voči chybám.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sk-SK" sz="2400" b="1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400" b="1"/>
              <a:t>Zlepšenie </a:t>
            </a:r>
            <a:r>
              <a:rPr lang="sk-SK" sz="2400" b="1">
                <a:solidFill>
                  <a:schemeClr val="accent2"/>
                </a:solidFill>
              </a:rPr>
              <a:t>výkonu</a:t>
            </a:r>
            <a:r>
              <a:rPr lang="sk-SK" sz="2400" b="1"/>
              <a:t>, </a:t>
            </a:r>
            <a:r>
              <a:rPr lang="sk-SK" sz="2400" b="1">
                <a:solidFill>
                  <a:schemeClr val="accent2"/>
                </a:solidFill>
              </a:rPr>
              <a:t>škálovateľnosti</a:t>
            </a:r>
            <a:r>
              <a:rPr lang="sk-SK" sz="2400" b="1"/>
              <a:t> a </a:t>
            </a:r>
            <a:r>
              <a:rPr lang="sk-SK" sz="2400" b="1">
                <a:solidFill>
                  <a:schemeClr val="accent2"/>
                </a:solidFill>
              </a:rPr>
              <a:t>spoľahlivosti</a:t>
            </a:r>
            <a:r>
              <a:rPr lang="sk-SK" sz="2400" b="1"/>
              <a:t> webových aplikácií.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sk-SK" sz="2400" b="1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400" b="1"/>
              <a:t>Efektívny nástroj na </a:t>
            </a:r>
            <a:r>
              <a:rPr lang="sk-SK" sz="2400" b="1">
                <a:solidFill>
                  <a:schemeClr val="accent2"/>
                </a:solidFill>
              </a:rPr>
              <a:t>vyrovnávanie</a:t>
            </a:r>
            <a:r>
              <a:rPr lang="sk-SK" sz="2400" b="1"/>
              <a:t> záťaže HTTP.</a:t>
            </a:r>
            <a:endParaRPr lang="sk-SK"/>
          </a:p>
        </p:txBody>
      </p:sp>
      <p:pic>
        <p:nvPicPr>
          <p:cNvPr id="2050" name="Picture 2" descr="Download nginx Logo in SVG Vector or PNG File Format - Logo.wine">
            <a:extLst>
              <a:ext uri="{FF2B5EF4-FFF2-40B4-BE49-F238E27FC236}">
                <a16:creationId xmlns:a16="http://schemas.microsoft.com/office/drawing/2014/main" id="{836FAAB2-1DCE-4583-929D-3CB1D9F9B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5483" y="-523700"/>
            <a:ext cx="3277755" cy="2185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915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-1730439" y="-90520"/>
            <a:ext cx="9055235" cy="1115610"/>
            <a:chOff x="2977622" y="-7144"/>
            <a:chExt cx="6452656" cy="126682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8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k-SK" sz="4000" b="1">
                  <a:solidFill>
                    <a:prstClr val="white"/>
                  </a:solidFill>
                  <a:latin typeface="+mj-lt"/>
                </a:rPr>
                <a:t>Nginx</a:t>
              </a:r>
              <a:r>
                <a:rPr lang="en-US" sz="4000" b="1">
                  <a:solidFill>
                    <a:prstClr val="white"/>
                  </a:solidFill>
                  <a:latin typeface="+mj-lt"/>
                </a:rPr>
                <a:t> </a:t>
              </a:r>
              <a:r>
                <a:rPr lang="sk-SK" sz="4000" b="1">
                  <a:solidFill>
                    <a:prstClr val="white"/>
                  </a:solidFill>
                  <a:latin typeface="+mj-lt"/>
                </a:rPr>
                <a:t>– load balancer</a:t>
              </a:r>
              <a:endParaRPr lang="en-US" sz="4000" b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6</a:t>
            </a:fld>
            <a:endParaRPr lang="en-US" sz="1800" b="1">
              <a:solidFill>
                <a:schemeClr val="tx1"/>
              </a:solidFill>
            </a:endParaRPr>
          </a:p>
        </p:txBody>
      </p:sp>
      <p:pic>
        <p:nvPicPr>
          <p:cNvPr id="2050" name="Picture 2" descr="Download nginx Logo in SVG Vector or PNG File Format - Logo.wine">
            <a:extLst>
              <a:ext uri="{FF2B5EF4-FFF2-40B4-BE49-F238E27FC236}">
                <a16:creationId xmlns:a16="http://schemas.microsoft.com/office/drawing/2014/main" id="{836FAAB2-1DCE-4583-929D-3CB1D9F9B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573" y="-625300"/>
            <a:ext cx="3277755" cy="2185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uilding Loadcat: A Simple NGINX Configuration Tool | Toptal">
            <a:extLst>
              <a:ext uri="{FF2B5EF4-FFF2-40B4-BE49-F238E27FC236}">
                <a16:creationId xmlns:a16="http://schemas.microsoft.com/office/drawing/2014/main" id="{41D6B6A8-6A01-4D34-9AD1-4B46E5A59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5680"/>
            <a:ext cx="10113818" cy="506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ABAA452-1CE7-490E-8032-3BCC67A3DCE8}"/>
              </a:ext>
            </a:extLst>
          </p:cNvPr>
          <p:cNvSpPr txBox="1"/>
          <p:nvPr/>
        </p:nvSpPr>
        <p:spPr>
          <a:xfrm>
            <a:off x="7147141" y="5978214"/>
            <a:ext cx="3569854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sk-SK" b="1"/>
              <a:t>Kontajner </a:t>
            </a:r>
            <a:r>
              <a:rPr lang="en-US" b="1"/>
              <a:t>digi-tech-one</a:t>
            </a:r>
            <a:endParaRPr lang="en-US" sz="1400" b="1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CF685BF2-36E2-4323-BCFD-650CCEFCE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322" y="5619862"/>
            <a:ext cx="1624734" cy="139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F953D6D-F8C6-419E-972F-57DB0C64C79E}"/>
              </a:ext>
            </a:extLst>
          </p:cNvPr>
          <p:cNvSpPr txBox="1"/>
          <p:nvPr/>
        </p:nvSpPr>
        <p:spPr>
          <a:xfrm>
            <a:off x="6907646" y="1159461"/>
            <a:ext cx="3569854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/>
              <a:t>Kontajner digi-tech-one</a:t>
            </a:r>
            <a:endParaRPr lang="en-US" sz="1400" b="1"/>
          </a:p>
        </p:txBody>
      </p:sp>
      <p:pic>
        <p:nvPicPr>
          <p:cNvPr id="19" name="Picture 6">
            <a:extLst>
              <a:ext uri="{FF2B5EF4-FFF2-40B4-BE49-F238E27FC236}">
                <a16:creationId xmlns:a16="http://schemas.microsoft.com/office/drawing/2014/main" id="{FE1A1BEF-8FE6-4D6A-9648-6864C5E13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818" y="696728"/>
            <a:ext cx="1624734" cy="139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732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-1730439" y="-90520"/>
            <a:ext cx="9055235" cy="1115610"/>
            <a:chOff x="2977622" y="-7144"/>
            <a:chExt cx="6452656" cy="126682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8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k-SK" sz="4000" b="1">
                  <a:solidFill>
                    <a:prstClr val="white"/>
                  </a:solidFill>
                  <a:latin typeface="+mj-lt"/>
                </a:rPr>
                <a:t>Nginx</a:t>
              </a:r>
              <a:r>
                <a:rPr lang="en-US" sz="4000" b="1">
                  <a:solidFill>
                    <a:prstClr val="white"/>
                  </a:solidFill>
                  <a:latin typeface="+mj-lt"/>
                </a:rPr>
                <a:t> </a:t>
              </a:r>
              <a:r>
                <a:rPr lang="sk-SK" sz="4000" b="1">
                  <a:solidFill>
                    <a:prstClr val="white"/>
                  </a:solidFill>
                  <a:latin typeface="+mj-lt"/>
                </a:rPr>
                <a:t>– </a:t>
              </a:r>
              <a:r>
                <a:rPr lang="sk-SK" sz="4000" b="1" err="1">
                  <a:solidFill>
                    <a:prstClr val="white"/>
                  </a:solidFill>
                  <a:latin typeface="+mj-lt"/>
                </a:rPr>
                <a:t>Round</a:t>
              </a:r>
              <a:r>
                <a:rPr lang="sk-SK" sz="4000" b="1">
                  <a:solidFill>
                    <a:prstClr val="white"/>
                  </a:solidFill>
                  <a:latin typeface="+mj-lt"/>
                </a:rPr>
                <a:t>-robin DNS</a:t>
              </a:r>
              <a:endParaRPr lang="en-US" sz="4000" b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7</a:t>
            </a:fld>
            <a:endParaRPr lang="en-US" sz="1800" b="1">
              <a:solidFill>
                <a:schemeClr val="tx1"/>
              </a:solidFill>
            </a:endParaRPr>
          </a:p>
        </p:txBody>
      </p:sp>
      <p:pic>
        <p:nvPicPr>
          <p:cNvPr id="2050" name="Picture 2" descr="Download nginx Logo in SVG Vector or PNG File Format - Logo.wine">
            <a:extLst>
              <a:ext uri="{FF2B5EF4-FFF2-40B4-BE49-F238E27FC236}">
                <a16:creationId xmlns:a16="http://schemas.microsoft.com/office/drawing/2014/main" id="{836FAAB2-1DCE-4583-929D-3CB1D9F9B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573" y="-625300"/>
            <a:ext cx="3277755" cy="2185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uilding Loadcat: A Simple NGINX Configuration Tool | Toptal">
            <a:extLst>
              <a:ext uri="{FF2B5EF4-FFF2-40B4-BE49-F238E27FC236}">
                <a16:creationId xmlns:a16="http://schemas.microsoft.com/office/drawing/2014/main" id="{41D6B6A8-6A01-4D34-9AD1-4B46E5A59C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2" r="11127"/>
          <a:stretch/>
        </p:blipFill>
        <p:spPr bwMode="auto">
          <a:xfrm>
            <a:off x="0" y="1724513"/>
            <a:ext cx="6131791" cy="3895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ABAA452-1CE7-490E-8032-3BCC67A3DCE8}"/>
              </a:ext>
            </a:extLst>
          </p:cNvPr>
          <p:cNvSpPr txBox="1"/>
          <p:nvPr/>
        </p:nvSpPr>
        <p:spPr>
          <a:xfrm>
            <a:off x="4237687" y="5154991"/>
            <a:ext cx="3569854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sk-SK" b="1"/>
              <a:t>Kontajner </a:t>
            </a:r>
            <a:r>
              <a:rPr lang="en-US" b="1"/>
              <a:t>digi-tech-one</a:t>
            </a:r>
            <a:endParaRPr lang="en-US" sz="1400" b="1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CF685BF2-36E2-4323-BCFD-650CCEFCE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449" y="5387426"/>
            <a:ext cx="1624734" cy="139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F953D6D-F8C6-419E-972F-57DB0C64C79E}"/>
              </a:ext>
            </a:extLst>
          </p:cNvPr>
          <p:cNvSpPr txBox="1"/>
          <p:nvPr/>
        </p:nvSpPr>
        <p:spPr>
          <a:xfrm>
            <a:off x="4172194" y="1668545"/>
            <a:ext cx="3569854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/>
              <a:t>Kontajner digi-tech-one</a:t>
            </a:r>
            <a:endParaRPr lang="en-US" sz="1400" b="1"/>
          </a:p>
        </p:txBody>
      </p:sp>
      <p:pic>
        <p:nvPicPr>
          <p:cNvPr id="19" name="Picture 6">
            <a:extLst>
              <a:ext uri="{FF2B5EF4-FFF2-40B4-BE49-F238E27FC236}">
                <a16:creationId xmlns:a16="http://schemas.microsoft.com/office/drawing/2014/main" id="{FE1A1BEF-8FE6-4D6A-9648-6864C5E13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2742" y="663525"/>
            <a:ext cx="1624734" cy="139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5D518B-DA81-462D-8015-77DFEC53BD33}"/>
              </a:ext>
            </a:extLst>
          </p:cNvPr>
          <p:cNvCxnSpPr>
            <a:cxnSpLocks/>
          </p:cNvCxnSpPr>
          <p:nvPr/>
        </p:nvCxnSpPr>
        <p:spPr>
          <a:xfrm flipH="1">
            <a:off x="4955434" y="1257525"/>
            <a:ext cx="2771106" cy="239282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F72CE6F-02E1-4285-9ED1-C08271DFCB65}"/>
              </a:ext>
            </a:extLst>
          </p:cNvPr>
          <p:cNvSpPr txBox="1"/>
          <p:nvPr/>
        </p:nvSpPr>
        <p:spPr>
          <a:xfrm>
            <a:off x="7726540" y="967137"/>
            <a:ext cx="42176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2"/>
                </a:solidFill>
              </a:rPr>
              <a:t>Round-robin DNS</a:t>
            </a:r>
            <a:r>
              <a:rPr lang="sk-SK" sz="2400" b="1">
                <a:solidFill>
                  <a:schemeClr val="accent2"/>
                </a:solidFill>
              </a:rPr>
              <a:t>:</a:t>
            </a:r>
          </a:p>
          <a:p>
            <a:endParaRPr lang="sk-SK" sz="24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sz="2400" b="1"/>
              <a:t>Technika rozloženia záťaže.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sk-SK" sz="24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sz="2400" b="1"/>
              <a:t>Rovnomerné rozloženie </a:t>
            </a:r>
          </a:p>
          <a:p>
            <a:r>
              <a:rPr lang="sk-SK" sz="2400" b="1"/>
              <a:t>     požiadaviek medzi mnohými </a:t>
            </a:r>
          </a:p>
          <a:p>
            <a:r>
              <a:rPr lang="sk-SK" sz="2400" b="1"/>
              <a:t>     webovými servermi. </a:t>
            </a:r>
          </a:p>
          <a:p>
            <a:endParaRPr lang="sk-SK" sz="2400" b="1"/>
          </a:p>
          <a:p>
            <a:endParaRPr lang="sk-SK" sz="2400" b="1"/>
          </a:p>
          <a:p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139207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-1730439" y="-90520"/>
            <a:ext cx="9055235" cy="1115610"/>
            <a:chOff x="2977622" y="-7144"/>
            <a:chExt cx="6452656" cy="126682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8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k-SK" sz="4000" b="1">
                  <a:solidFill>
                    <a:prstClr val="white"/>
                  </a:solidFill>
                  <a:latin typeface="+mj-lt"/>
                </a:rPr>
                <a:t>Nginx</a:t>
              </a:r>
              <a:r>
                <a:rPr lang="en-US" sz="4000" b="1">
                  <a:solidFill>
                    <a:prstClr val="white"/>
                  </a:solidFill>
                  <a:latin typeface="+mj-lt"/>
                </a:rPr>
                <a:t> </a:t>
              </a:r>
              <a:r>
                <a:rPr lang="sk-SK" sz="4000" b="1">
                  <a:solidFill>
                    <a:prstClr val="white"/>
                  </a:solidFill>
                  <a:latin typeface="+mj-lt"/>
                </a:rPr>
                <a:t>– </a:t>
              </a:r>
              <a:r>
                <a:rPr lang="en-US" sz="4000" b="1">
                  <a:solidFill>
                    <a:schemeClr val="bg1"/>
                  </a:solidFill>
                </a:rPr>
                <a:t>Round-robin DNS</a:t>
              </a:r>
              <a:endParaRPr lang="en-US" sz="4000" b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8</a:t>
            </a:fld>
            <a:endParaRPr lang="en-US" sz="1800" b="1">
              <a:solidFill>
                <a:schemeClr val="tx1"/>
              </a:solidFill>
            </a:endParaRPr>
          </a:p>
        </p:txBody>
      </p:sp>
      <p:pic>
        <p:nvPicPr>
          <p:cNvPr id="2050" name="Picture 2" descr="Download nginx Logo in SVG Vector or PNG File Format - Logo.wine">
            <a:extLst>
              <a:ext uri="{FF2B5EF4-FFF2-40B4-BE49-F238E27FC236}">
                <a16:creationId xmlns:a16="http://schemas.microsoft.com/office/drawing/2014/main" id="{836FAAB2-1DCE-4583-929D-3CB1D9F9B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573" y="-625300"/>
            <a:ext cx="3277755" cy="2185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F72CE6F-02E1-4285-9ED1-C08271DFCB65}"/>
              </a:ext>
            </a:extLst>
          </p:cNvPr>
          <p:cNvSpPr txBox="1"/>
          <p:nvPr/>
        </p:nvSpPr>
        <p:spPr>
          <a:xfrm>
            <a:off x="114431" y="1232442"/>
            <a:ext cx="1006000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2200" b="1"/>
              <a:t>Napríklad spoločnosť má jeden názov domény a tri identické kópie rovnakej webovej stránky s umiestnením na troch serveroch s tromi rôznymi IP adresami. </a:t>
            </a:r>
          </a:p>
          <a:p>
            <a:endParaRPr lang="sk-SK" sz="2200" b="1"/>
          </a:p>
          <a:p>
            <a:r>
              <a:rPr lang="sk-SK" sz="2200" b="1"/>
              <a:t>Keď jeden používateľ pristupuje na domovskú stránku bude odoslaná na prvú IP adresu.</a:t>
            </a:r>
          </a:p>
          <a:p>
            <a:endParaRPr lang="sk-SK" sz="2200" b="1"/>
          </a:p>
          <a:p>
            <a:r>
              <a:rPr lang="sk-SK" sz="2200" b="1"/>
              <a:t>Druhý používateľ, ktorý pristupuje na domovskú stránku </a:t>
            </a:r>
          </a:p>
          <a:p>
            <a:r>
              <a:rPr lang="sk-SK" sz="2200" b="1"/>
              <a:t>bude zaslaný na ďalšie IP adresy, a tretí používateľ bude zaslaný na </a:t>
            </a:r>
          </a:p>
          <a:p>
            <a:r>
              <a:rPr lang="sk-SK" sz="2200" b="1"/>
              <a:t>tretiu IP adresu. </a:t>
            </a:r>
          </a:p>
          <a:p>
            <a:endParaRPr lang="sk-SK" sz="2200" b="1"/>
          </a:p>
          <a:p>
            <a:r>
              <a:rPr lang="sk-SK" sz="2200" b="1"/>
              <a:t>V každom prípade, akonáhle je IP adresa je vydaná, prejde sa </a:t>
            </a:r>
          </a:p>
          <a:p>
            <a:r>
              <a:rPr lang="sk-SK" sz="2200" b="1"/>
              <a:t>na koniec zoznamu. </a:t>
            </a:r>
          </a:p>
          <a:p>
            <a:endParaRPr lang="sk-SK" sz="2200" b="1"/>
          </a:p>
          <a:p>
            <a:r>
              <a:rPr lang="sk-SK" sz="2200" b="1"/>
              <a:t>Štvrtý užívateľ teda bude zaslaný na prvú IP adresu a tak ďalej.</a:t>
            </a:r>
          </a:p>
        </p:txBody>
      </p:sp>
      <p:pic>
        <p:nvPicPr>
          <p:cNvPr id="4098" name="Picture 2" descr="Best Marketing Tech-Stack in 2020">
            <a:extLst>
              <a:ext uri="{FF2B5EF4-FFF2-40B4-BE49-F238E27FC236}">
                <a16:creationId xmlns:a16="http://schemas.microsoft.com/office/drawing/2014/main" id="{213C8562-AD3F-4A27-96B9-0E04D123C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0400" y="3768670"/>
            <a:ext cx="3810000" cy="280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c 2">
            <a:extLst>
              <a:ext uri="{FF2B5EF4-FFF2-40B4-BE49-F238E27FC236}">
                <a16:creationId xmlns:a16="http://schemas.microsoft.com/office/drawing/2014/main" id="{16C33E64-9876-4BB1-8307-61BE00C63BAD}"/>
              </a:ext>
            </a:extLst>
          </p:cNvPr>
          <p:cNvSpPr/>
          <p:nvPr/>
        </p:nvSpPr>
        <p:spPr>
          <a:xfrm rot="3047525">
            <a:off x="9040849" y="3905652"/>
            <a:ext cx="2904438" cy="2134198"/>
          </a:xfrm>
          <a:prstGeom prst="arc">
            <a:avLst/>
          </a:prstGeom>
          <a:ln w="762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8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-1730439" y="-90520"/>
            <a:ext cx="9055235" cy="1115610"/>
            <a:chOff x="2977622" y="-7144"/>
            <a:chExt cx="6452656" cy="126682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80383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sk-SK" sz="4000" b="1" err="1">
                  <a:solidFill>
                    <a:prstClr val="white"/>
                  </a:solidFill>
                  <a:latin typeface="+mj-lt"/>
                </a:rPr>
                <a:t>Nginx</a:t>
              </a:r>
            </a:p>
          </p:txBody>
        </p:sp>
      </p:grp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9</a:t>
            </a:fld>
            <a:endParaRPr lang="en-US" sz="1800" b="1">
              <a:solidFill>
                <a:schemeClr val="tx1"/>
              </a:solidFill>
            </a:endParaRPr>
          </a:p>
        </p:txBody>
      </p:sp>
      <p:pic>
        <p:nvPicPr>
          <p:cNvPr id="3" name="NGINX Tutorial - What is Nginx">
            <a:hlinkClick r:id="" action="ppaction://media"/>
            <a:extLst>
              <a:ext uri="{FF2B5EF4-FFF2-40B4-BE49-F238E27FC236}">
                <a16:creationId xmlns:a16="http://schemas.microsoft.com/office/drawing/2014/main" id="{A512804D-681F-14FE-9553-814839845869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402739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47802"/>
            <a:ext cx="12276980" cy="690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293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919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-1730439" y="-90520"/>
            <a:ext cx="9055235" cy="1115610"/>
            <a:chOff x="2977622" y="-7144"/>
            <a:chExt cx="6452656" cy="126682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8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>
                  <a:solidFill>
                    <a:prstClr val="white"/>
                  </a:solidFill>
                  <a:latin typeface="+mj-lt"/>
                </a:rPr>
                <a:t>Docker </a:t>
              </a:r>
              <a:r>
                <a:rPr lang="sk-SK" sz="4000" b="1">
                  <a:solidFill>
                    <a:prstClr val="white"/>
                  </a:solidFill>
                  <a:latin typeface="+mj-lt"/>
                </a:rPr>
                <a:t>compose</a:t>
              </a:r>
              <a:endParaRPr lang="en-US" sz="4000" b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10</a:t>
            </a:fld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47942C-693D-4FAD-BBA4-3D53E131B80E}"/>
              </a:ext>
            </a:extLst>
          </p:cNvPr>
          <p:cNvSpPr txBox="1"/>
          <p:nvPr/>
        </p:nvSpPr>
        <p:spPr>
          <a:xfrm>
            <a:off x="212324" y="1049001"/>
            <a:ext cx="11600985" cy="1230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600" b="1"/>
              <a:t>Nástroj pre definovanie a spustenie </a:t>
            </a:r>
            <a:r>
              <a:rPr lang="sk-SK" sz="2600" b="1" err="1"/>
              <a:t>multi</a:t>
            </a:r>
            <a:r>
              <a:rPr lang="sk-SK" sz="2600" b="1"/>
              <a:t>-kontajnerov Docker aplikácií.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600" b="1"/>
              <a:t>YAML súbor na konfiguráciu</a:t>
            </a:r>
          </a:p>
        </p:txBody>
      </p:sp>
      <p:pic>
        <p:nvPicPr>
          <p:cNvPr id="6146" name="Picture 2" descr="Using Docker Compose to Run Your Applications | by Derian Pratama Tungka |  Rate Engineering | Medium">
            <a:extLst>
              <a:ext uri="{FF2B5EF4-FFF2-40B4-BE49-F238E27FC236}">
                <a16:creationId xmlns:a16="http://schemas.microsoft.com/office/drawing/2014/main" id="{9893A82B-E8A2-4810-9E59-7542413D3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7354" y="-6755"/>
            <a:ext cx="2414646" cy="1391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B31397-51E6-43BA-9165-E0C347B0676C}"/>
              </a:ext>
            </a:extLst>
          </p:cNvPr>
          <p:cNvSpPr txBox="1"/>
          <p:nvPr/>
        </p:nvSpPr>
        <p:spPr>
          <a:xfrm>
            <a:off x="668915" y="2454748"/>
            <a:ext cx="69596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en-US" b="1"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"3"</a:t>
            </a:r>
          </a:p>
          <a:p>
            <a:b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services</a:t>
            </a:r>
            <a:r>
              <a:rPr lang="en-US" b="1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digi-tech-one</a:t>
            </a:r>
            <a:r>
              <a:rPr lang="en-US" b="1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b="1"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1" err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digi-tech-one:latest</a:t>
            </a: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"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expose</a:t>
            </a:r>
            <a:r>
              <a:rPr lang="en-US" b="1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effectLst/>
                <a:latin typeface="Consolas" panose="020B0609020204030204" pitchFamily="49" charset="0"/>
              </a:rPr>
              <a:t>- </a:t>
            </a: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"3000"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nginx</a:t>
            </a:r>
            <a:r>
              <a:rPr lang="en-US" b="1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b="1"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err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nginx:latest</a:t>
            </a:r>
            <a:endParaRPr lang="en-US" b="1">
              <a:solidFill>
                <a:srgbClr val="F1800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en-US" b="1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effectLst/>
                <a:latin typeface="Consolas" panose="020B0609020204030204" pitchFamily="49" charset="0"/>
              </a:rPr>
              <a:t>-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./</a:t>
            </a:r>
            <a:r>
              <a:rPr lang="en-US" b="1" err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nginx.conf</a:t>
            </a: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:/etc/nginx/</a:t>
            </a:r>
            <a:r>
              <a:rPr lang="en-US" b="1" err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nginx.conf:ro</a:t>
            </a:r>
            <a:endParaRPr lang="en-US" b="1">
              <a:solidFill>
                <a:srgbClr val="F1800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err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depends_on</a:t>
            </a:r>
            <a:r>
              <a:rPr lang="en-US" b="1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effectLst/>
                <a:latin typeface="Consolas" panose="020B0609020204030204" pitchFamily="49" charset="0"/>
              </a:rPr>
              <a:t>-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digi-tech-one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b="1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effectLst/>
                <a:latin typeface="Consolas" panose="020B0609020204030204" pitchFamily="49" charset="0"/>
              </a:rPr>
              <a:t>-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"5000:4000"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76521CC-A305-4121-AB0A-A7E21F562F8B}"/>
              </a:ext>
            </a:extLst>
          </p:cNvPr>
          <p:cNvCxnSpPr>
            <a:cxnSpLocks/>
          </p:cNvCxnSpPr>
          <p:nvPr/>
        </p:nvCxnSpPr>
        <p:spPr>
          <a:xfrm flipH="1">
            <a:off x="3925455" y="2489201"/>
            <a:ext cx="2355272" cy="104601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53464F9-A519-43AC-89E8-148B46EBC750}"/>
              </a:ext>
            </a:extLst>
          </p:cNvPr>
          <p:cNvCxnSpPr>
            <a:cxnSpLocks/>
          </p:cNvCxnSpPr>
          <p:nvPr/>
        </p:nvCxnSpPr>
        <p:spPr>
          <a:xfrm flipH="1">
            <a:off x="2669309" y="3771634"/>
            <a:ext cx="3557949" cy="59716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25FF94A-398F-4157-BC74-B00E2F3A4A3C}"/>
              </a:ext>
            </a:extLst>
          </p:cNvPr>
          <p:cNvCxnSpPr>
            <a:cxnSpLocks/>
          </p:cNvCxnSpPr>
          <p:nvPr/>
        </p:nvCxnSpPr>
        <p:spPr>
          <a:xfrm flipH="1">
            <a:off x="3953107" y="4458878"/>
            <a:ext cx="1420171" cy="36958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0A214EE-61B3-4460-9C18-ACA09EC11201}"/>
              </a:ext>
            </a:extLst>
          </p:cNvPr>
          <p:cNvCxnSpPr>
            <a:cxnSpLocks/>
          </p:cNvCxnSpPr>
          <p:nvPr/>
        </p:nvCxnSpPr>
        <p:spPr>
          <a:xfrm flipH="1">
            <a:off x="6594764" y="4458878"/>
            <a:ext cx="2191017" cy="77907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E43A51E-BF13-47A9-AB67-67BCE9D12F41}"/>
              </a:ext>
            </a:extLst>
          </p:cNvPr>
          <p:cNvCxnSpPr>
            <a:cxnSpLocks/>
          </p:cNvCxnSpPr>
          <p:nvPr/>
        </p:nvCxnSpPr>
        <p:spPr>
          <a:xfrm flipH="1">
            <a:off x="2318327" y="5781770"/>
            <a:ext cx="4888323" cy="51743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0868E70-BE15-4E8F-8BD4-3FB21C28E875}"/>
              </a:ext>
            </a:extLst>
          </p:cNvPr>
          <p:cNvCxnSpPr>
            <a:cxnSpLocks/>
          </p:cNvCxnSpPr>
          <p:nvPr/>
        </p:nvCxnSpPr>
        <p:spPr>
          <a:xfrm flipH="1" flipV="1">
            <a:off x="3260436" y="6474354"/>
            <a:ext cx="3334328" cy="15328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CE74F1F-87EE-4723-9362-BA66F21AC9AB}"/>
              </a:ext>
            </a:extLst>
          </p:cNvPr>
          <p:cNvSpPr txBox="1"/>
          <p:nvPr/>
        </p:nvSpPr>
        <p:spPr>
          <a:xfrm>
            <a:off x="6302014" y="1949539"/>
            <a:ext cx="4583041" cy="630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i="1"/>
              <a:t>Image, </a:t>
            </a:r>
            <a:r>
              <a:rPr lang="sk-SK" sz="2600" b="1" i="1"/>
              <a:t>ktorý chceme škálovať </a:t>
            </a:r>
            <a:endParaRPr lang="sk-SK" sz="2000" b="1" i="1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8D3FFA-4F20-41B9-8281-611904142008}"/>
              </a:ext>
            </a:extLst>
          </p:cNvPr>
          <p:cNvSpPr txBox="1"/>
          <p:nvPr/>
        </p:nvSpPr>
        <p:spPr>
          <a:xfrm>
            <a:off x="6302014" y="3145042"/>
            <a:ext cx="4583041" cy="630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sk-SK" sz="2600" b="1" i="1"/>
              <a:t>Port využitý našou aplikáciou</a:t>
            </a:r>
            <a:endParaRPr lang="sk-SK" sz="2000" b="1" i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8E3CAD-71F3-44C4-B514-11C24EABB303}"/>
              </a:ext>
            </a:extLst>
          </p:cNvPr>
          <p:cNvSpPr txBox="1"/>
          <p:nvPr/>
        </p:nvSpPr>
        <p:spPr>
          <a:xfrm>
            <a:off x="5407813" y="3992938"/>
            <a:ext cx="4583041" cy="630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i="1"/>
              <a:t>Image</a:t>
            </a:r>
            <a:r>
              <a:rPr lang="sk-SK" sz="2600" b="1" i="1"/>
              <a:t> pre Nginx</a:t>
            </a:r>
            <a:endParaRPr lang="sk-SK" sz="2000" b="1" i="1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472963-FE1E-4FFE-A255-BEAC73EF0A27}"/>
              </a:ext>
            </a:extLst>
          </p:cNvPr>
          <p:cNvSpPr txBox="1"/>
          <p:nvPr/>
        </p:nvSpPr>
        <p:spPr>
          <a:xfrm>
            <a:off x="9062279" y="4025330"/>
            <a:ext cx="4583041" cy="630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sk-SK" sz="2600" b="1" i="1"/>
              <a:t>Úložisko pre Nginx</a:t>
            </a:r>
            <a:endParaRPr lang="sk-SK" sz="2000" b="1" i="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1F8F1E-0B23-4B66-A908-DED424DA52B6}"/>
              </a:ext>
            </a:extLst>
          </p:cNvPr>
          <p:cNvSpPr txBox="1"/>
          <p:nvPr/>
        </p:nvSpPr>
        <p:spPr>
          <a:xfrm>
            <a:off x="7206650" y="4983228"/>
            <a:ext cx="5942100" cy="1230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sk-SK" sz="2600" b="1" i="1"/>
              <a:t>Port, kde budú smerovať </a:t>
            </a:r>
          </a:p>
          <a:p>
            <a:pPr>
              <a:lnSpc>
                <a:spcPct val="150000"/>
              </a:lnSpc>
            </a:pPr>
            <a:r>
              <a:rPr lang="sk-SK" sz="2600" b="1" i="1"/>
              <a:t>požiadavky z vonkajšieho sveta</a:t>
            </a:r>
            <a:endParaRPr lang="sk-SK" sz="2000" b="1" i="1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F47EAC-4E86-4ECC-BFE9-03BB31D7C179}"/>
              </a:ext>
            </a:extLst>
          </p:cNvPr>
          <p:cNvSpPr txBox="1"/>
          <p:nvPr/>
        </p:nvSpPr>
        <p:spPr>
          <a:xfrm>
            <a:off x="6691429" y="6159139"/>
            <a:ext cx="4583041" cy="630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sk-SK" sz="2600" b="1" i="1"/>
              <a:t>Port, kde načúva Nginx</a:t>
            </a:r>
            <a:endParaRPr lang="sk-SK" sz="2000" b="1" i="1"/>
          </a:p>
        </p:txBody>
      </p:sp>
    </p:spTree>
    <p:extLst>
      <p:ext uri="{BB962C8B-B14F-4D97-AF65-F5344CB8AC3E}">
        <p14:creationId xmlns:p14="http://schemas.microsoft.com/office/powerpoint/2010/main" val="2248971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-1730439" y="-90520"/>
            <a:ext cx="9055235" cy="1115610"/>
            <a:chOff x="2977622" y="-7144"/>
            <a:chExt cx="6452656" cy="126682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8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k-SK" sz="4000" b="1">
                  <a:solidFill>
                    <a:prstClr val="white"/>
                  </a:solidFill>
                  <a:latin typeface="+mj-lt"/>
                </a:rPr>
                <a:t>Implementácia</a:t>
              </a:r>
              <a:endParaRPr lang="en-US" sz="4000" b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11</a:t>
            </a:fld>
            <a:endParaRPr lang="en-US" sz="1800" b="1">
              <a:solidFill>
                <a:schemeClr val="tx1"/>
              </a:solidFill>
            </a:endParaRPr>
          </a:p>
        </p:txBody>
      </p:sp>
      <p:pic>
        <p:nvPicPr>
          <p:cNvPr id="6146" name="Picture 2" descr="Using Docker Compose to Run Your Applications | by Derian Pratama Tungka |  Rate Engineering | Medium">
            <a:extLst>
              <a:ext uri="{FF2B5EF4-FFF2-40B4-BE49-F238E27FC236}">
                <a16:creationId xmlns:a16="http://schemas.microsoft.com/office/drawing/2014/main" id="{9893A82B-E8A2-4810-9E59-7542413D3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27" y="5271645"/>
            <a:ext cx="2414646" cy="1391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B31397-51E6-43BA-9165-E0C347B0676C}"/>
              </a:ext>
            </a:extLst>
          </p:cNvPr>
          <p:cNvSpPr txBox="1"/>
          <p:nvPr/>
        </p:nvSpPr>
        <p:spPr>
          <a:xfrm>
            <a:off x="3559897" y="2490657"/>
            <a:ext cx="69596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en-US" b="1"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"3"</a:t>
            </a:r>
          </a:p>
          <a:p>
            <a:b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services</a:t>
            </a:r>
            <a:r>
              <a:rPr lang="en-US" b="1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digi-tech-one</a:t>
            </a:r>
            <a:r>
              <a:rPr lang="en-US" b="1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b="1"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1" err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digi-tech-one:latest</a:t>
            </a: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"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expose</a:t>
            </a:r>
            <a:r>
              <a:rPr lang="en-US" b="1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effectLst/>
                <a:latin typeface="Consolas" panose="020B0609020204030204" pitchFamily="49" charset="0"/>
              </a:rPr>
              <a:t>- </a:t>
            </a: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"3000"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nginx</a:t>
            </a:r>
            <a:r>
              <a:rPr lang="en-US" b="1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b="1"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err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nginx:latest</a:t>
            </a:r>
            <a:endParaRPr lang="en-US" b="1">
              <a:solidFill>
                <a:srgbClr val="F1800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en-US" b="1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effectLst/>
                <a:latin typeface="Consolas" panose="020B0609020204030204" pitchFamily="49" charset="0"/>
              </a:rPr>
              <a:t>-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./</a:t>
            </a:r>
            <a:r>
              <a:rPr lang="en-US" b="1" err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nginx.conf</a:t>
            </a: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:/etc/nginx/</a:t>
            </a:r>
            <a:r>
              <a:rPr lang="en-US" b="1" err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nginx.conf:ro</a:t>
            </a:r>
            <a:endParaRPr lang="en-US" b="1">
              <a:solidFill>
                <a:srgbClr val="F1800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err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depends_on</a:t>
            </a:r>
            <a:r>
              <a:rPr lang="en-US" b="1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effectLst/>
                <a:latin typeface="Consolas" panose="020B0609020204030204" pitchFamily="49" charset="0"/>
              </a:rPr>
              <a:t>-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digi-tech-one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b="1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effectLst/>
                <a:latin typeface="Consolas" panose="020B0609020204030204" pitchFamily="49" charset="0"/>
              </a:rPr>
              <a:t>-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"5000:4000"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334D46-0FD3-4E27-8951-C7AD93EE09DD}"/>
              </a:ext>
            </a:extLst>
          </p:cNvPr>
          <p:cNvSpPr txBox="1"/>
          <p:nvPr/>
        </p:nvSpPr>
        <p:spPr>
          <a:xfrm>
            <a:off x="311693" y="1025090"/>
            <a:ext cx="11778707" cy="1830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sk-SK" sz="2600" b="1" i="1"/>
              <a:t>Vytvorenie priečinku napr. </a:t>
            </a:r>
            <a:r>
              <a:rPr lang="sk-SK" sz="2600" b="1" i="1" err="1">
                <a:solidFill>
                  <a:schemeClr val="accent2"/>
                </a:solidFill>
              </a:rPr>
              <a:t>Yaml</a:t>
            </a:r>
            <a:endParaRPr lang="sk-SK" sz="2600" b="1" i="1">
              <a:solidFill>
                <a:schemeClr val="accent2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sk-SK" sz="2600" b="1" i="1"/>
              <a:t>Vytvorenie súboru v priečinku s názvom </a:t>
            </a:r>
            <a:r>
              <a:rPr lang="sk-SK" sz="2600" b="1" i="1">
                <a:solidFill>
                  <a:schemeClr val="accent2"/>
                </a:solidFill>
              </a:rPr>
              <a:t>docker-</a:t>
            </a:r>
            <a:r>
              <a:rPr lang="sk-SK" sz="2600" b="1" i="1" err="1">
                <a:solidFill>
                  <a:schemeClr val="accent2"/>
                </a:solidFill>
              </a:rPr>
              <a:t>compose.yml</a:t>
            </a:r>
            <a:r>
              <a:rPr lang="sk-SK" sz="2600" b="1" i="1">
                <a:solidFill>
                  <a:schemeClr val="accent2"/>
                </a:solidFill>
              </a:rPr>
              <a:t> </a:t>
            </a:r>
            <a:r>
              <a:rPr lang="sk-SK" sz="2600" b="1" i="1"/>
              <a:t>a	nakopírovanie obsahu nižšie</a:t>
            </a:r>
            <a:endParaRPr lang="sk-SK" sz="2000" b="1" i="1"/>
          </a:p>
        </p:txBody>
      </p:sp>
    </p:spTree>
    <p:extLst>
      <p:ext uri="{BB962C8B-B14F-4D97-AF65-F5344CB8AC3E}">
        <p14:creationId xmlns:p14="http://schemas.microsoft.com/office/powerpoint/2010/main" val="2809384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-1730439" y="-90520"/>
            <a:ext cx="9055235" cy="1115610"/>
            <a:chOff x="2977622" y="-7144"/>
            <a:chExt cx="6452656" cy="126682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8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k-SK" sz="4000" b="1">
                  <a:solidFill>
                    <a:prstClr val="white"/>
                  </a:solidFill>
                  <a:latin typeface="+mj-lt"/>
                </a:rPr>
                <a:t>Implementácia</a:t>
              </a:r>
              <a:endParaRPr lang="en-US" sz="4000" b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12</a:t>
            </a:fld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92415A-BF78-4A2E-8101-18CC3A915B52}"/>
              </a:ext>
            </a:extLst>
          </p:cNvPr>
          <p:cNvSpPr txBox="1"/>
          <p:nvPr/>
        </p:nvSpPr>
        <p:spPr>
          <a:xfrm>
            <a:off x="524163" y="2751755"/>
            <a:ext cx="6959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1">
                <a:effectLst/>
                <a:latin typeface="Consolas" panose="020B0609020204030204" pitchFamily="49" charset="0"/>
              </a:rPr>
              <a:t>  nginx;</a:t>
            </a:r>
          </a:p>
          <a:p>
            <a:br>
              <a:rPr lang="en-US" b="1"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events</a:t>
            </a:r>
            <a:r>
              <a:rPr lang="en-US" b="1"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1">
                <a:effectLst/>
                <a:latin typeface="Consolas" panose="020B0609020204030204" pitchFamily="49" charset="0"/>
              </a:rPr>
              <a:t>    </a:t>
            </a:r>
            <a:r>
              <a:rPr lang="en-US" b="1" err="1">
                <a:effectLst/>
                <a:latin typeface="Consolas" panose="020B0609020204030204" pitchFamily="49" charset="0"/>
              </a:rPr>
              <a:t>worker_connections</a:t>
            </a:r>
            <a:r>
              <a:rPr lang="en-US" b="1">
                <a:effectLst/>
                <a:latin typeface="Consolas" panose="020B0609020204030204" pitchFamily="49" charset="0"/>
              </a:rPr>
              <a:t>   </a:t>
            </a:r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1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b="1"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1"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US" b="1"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1"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listen</a:t>
            </a:r>
            <a:r>
              <a:rPr lang="en-US" b="1"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4000</a:t>
            </a:r>
            <a:r>
              <a:rPr lang="en-US" b="1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b="1">
                <a:effectLst/>
                <a:latin typeface="Consolas" panose="020B0609020204030204" pitchFamily="49" charset="0"/>
              </a:rPr>
              <a:t> / {</a:t>
            </a:r>
          </a:p>
          <a:p>
            <a:r>
              <a:rPr lang="en-US" b="1"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1" err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proxy_pass</a:t>
            </a:r>
            <a:r>
              <a:rPr lang="en-US" b="1">
                <a:solidFill>
                  <a:srgbClr val="F1800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http://digi-tech-one:3000</a:t>
            </a:r>
            <a:r>
              <a:rPr lang="en-US" b="1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effectLst/>
                <a:latin typeface="Consolas" panose="020B0609020204030204" pitchFamily="49" charset="0"/>
              </a:rPr>
              <a:t>              }</a:t>
            </a:r>
          </a:p>
          <a:p>
            <a:r>
              <a:rPr lang="en-US" b="1"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b="1"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2" name="Picture 2" descr="Download nginx Logo in SVG Vector or PNG File Format - Logo.wine">
            <a:extLst>
              <a:ext uri="{FF2B5EF4-FFF2-40B4-BE49-F238E27FC236}">
                <a16:creationId xmlns:a16="http://schemas.microsoft.com/office/drawing/2014/main" id="{F83DD07D-05D0-4028-950A-F28344FED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573" y="-625300"/>
            <a:ext cx="3277755" cy="2185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5C6E8C7-B0F1-4855-8A7D-613F2755C9FA}"/>
              </a:ext>
            </a:extLst>
          </p:cNvPr>
          <p:cNvSpPr txBox="1"/>
          <p:nvPr/>
        </p:nvSpPr>
        <p:spPr>
          <a:xfrm>
            <a:off x="146229" y="1232941"/>
            <a:ext cx="1120757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2600" b="1" i="1"/>
              <a:t>3.  Vytvorenie</a:t>
            </a:r>
            <a:r>
              <a:rPr lang="en-US" sz="2600" b="1" i="1"/>
              <a:t> </a:t>
            </a:r>
            <a:r>
              <a:rPr lang="sk-SK" sz="2600" b="1" i="1"/>
              <a:t>súboru</a:t>
            </a:r>
            <a:r>
              <a:rPr lang="en-US" sz="2600" b="1" i="1"/>
              <a:t> v </a:t>
            </a:r>
            <a:r>
              <a:rPr lang="sk-SK" sz="2600" b="1" i="1"/>
              <a:t>priečinku s názvom </a:t>
            </a:r>
            <a:r>
              <a:rPr lang="en-US" sz="2600" b="1" i="1" err="1">
                <a:solidFill>
                  <a:schemeClr val="accent2"/>
                </a:solidFill>
              </a:rPr>
              <a:t>nginx.conf</a:t>
            </a:r>
            <a:r>
              <a:rPr lang="sk-SK" sz="2600" b="1" i="1">
                <a:solidFill>
                  <a:schemeClr val="accent2"/>
                </a:solidFill>
              </a:rPr>
              <a:t> </a:t>
            </a:r>
            <a:r>
              <a:rPr lang="en-US" sz="2600" b="1" i="1"/>
              <a:t>a</a:t>
            </a:r>
            <a:r>
              <a:rPr lang="sk-SK" sz="2600" b="1" i="1"/>
              <a:t> </a:t>
            </a:r>
            <a:r>
              <a:rPr lang="en-US" sz="2600" b="1" i="1"/>
              <a:t>nakopírovanie obsahu nižšie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E80C45B-9062-4ECF-ACD8-8A0C7908755C}"/>
              </a:ext>
            </a:extLst>
          </p:cNvPr>
          <p:cNvCxnSpPr>
            <a:cxnSpLocks/>
          </p:cNvCxnSpPr>
          <p:nvPr/>
        </p:nvCxnSpPr>
        <p:spPr>
          <a:xfrm flipH="1">
            <a:off x="4525818" y="2489201"/>
            <a:ext cx="1754909" cy="108527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A086D5A-70B4-46AA-82F8-4931AB2958FE}"/>
              </a:ext>
            </a:extLst>
          </p:cNvPr>
          <p:cNvSpPr txBox="1"/>
          <p:nvPr/>
        </p:nvSpPr>
        <p:spPr>
          <a:xfrm>
            <a:off x="6302014" y="1949539"/>
            <a:ext cx="4583041" cy="630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sk-SK" sz="2600" b="1" i="1"/>
              <a:t>Maximálny počet pripojení</a:t>
            </a:r>
            <a:endParaRPr lang="sk-SK" sz="2000" b="1" i="1"/>
          </a:p>
        </p:txBody>
      </p:sp>
    </p:spTree>
    <p:extLst>
      <p:ext uri="{BB962C8B-B14F-4D97-AF65-F5344CB8AC3E}">
        <p14:creationId xmlns:p14="http://schemas.microsoft.com/office/powerpoint/2010/main" val="109202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-1730439" y="-90520"/>
            <a:ext cx="9055235" cy="1115610"/>
            <a:chOff x="2977622" y="-7144"/>
            <a:chExt cx="6452656" cy="126682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8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k-SK" sz="4000" b="1">
                  <a:solidFill>
                    <a:prstClr val="white"/>
                  </a:solidFill>
                  <a:latin typeface="+mj-lt"/>
                </a:rPr>
                <a:t>Implementácia</a:t>
              </a:r>
              <a:endParaRPr lang="en-US" sz="4000" b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13</a:t>
            </a:fld>
            <a:endParaRPr lang="en-US" sz="1800" b="1">
              <a:solidFill>
                <a:schemeClr val="tx1"/>
              </a:solidFill>
            </a:endParaRPr>
          </a:p>
        </p:txBody>
      </p:sp>
      <p:pic>
        <p:nvPicPr>
          <p:cNvPr id="12" name="Picture 2" descr="Download nginx Logo in SVG Vector or PNG File Format - Logo.wine">
            <a:extLst>
              <a:ext uri="{FF2B5EF4-FFF2-40B4-BE49-F238E27FC236}">
                <a16:creationId xmlns:a16="http://schemas.microsoft.com/office/drawing/2014/main" id="{F83DD07D-05D0-4028-950A-F28344FED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573" y="-625300"/>
            <a:ext cx="3277755" cy="2185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2E8C65-5C52-4DA8-89BD-60B4B8312141}"/>
              </a:ext>
            </a:extLst>
          </p:cNvPr>
          <p:cNvSpPr txBox="1"/>
          <p:nvPr/>
        </p:nvSpPr>
        <p:spPr>
          <a:xfrm>
            <a:off x="146229" y="1189809"/>
            <a:ext cx="11207571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2600" b="1" i="1"/>
              <a:t>Štruktúra v priečinku je nasledovná:</a:t>
            </a:r>
          </a:p>
          <a:p>
            <a:endParaRPr lang="sk-SK" sz="2600" b="1" i="1"/>
          </a:p>
          <a:p>
            <a:endParaRPr lang="sk-SK" sz="2600" b="1" i="1"/>
          </a:p>
          <a:p>
            <a:endParaRPr lang="sk-SK" sz="2600" b="1" i="1"/>
          </a:p>
          <a:p>
            <a:endParaRPr lang="sk-SK" sz="2600" b="1" i="1"/>
          </a:p>
          <a:p>
            <a:endParaRPr lang="sk-SK" sz="2600" b="1" i="1"/>
          </a:p>
          <a:p>
            <a:pPr marL="514350" indent="-514350">
              <a:buAutoNum type="arabicPeriod" startAt="4"/>
            </a:pPr>
            <a:r>
              <a:rPr lang="sk-SK" sz="2600" b="1" i="1"/>
              <a:t>Otvorenie terminálu v priečinku a spustenie nasledovného príkazu:</a:t>
            </a:r>
          </a:p>
          <a:p>
            <a:pPr marL="514350" indent="-514350">
              <a:buAutoNum type="arabicPeriod" startAt="4"/>
            </a:pPr>
            <a:endParaRPr lang="sk-SK" sz="2600" b="1" i="1"/>
          </a:p>
          <a:p>
            <a:r>
              <a:rPr lang="en-US" sz="2600" b="1" i="1">
                <a:solidFill>
                  <a:schemeClr val="accent2"/>
                </a:solidFill>
              </a:rPr>
              <a:t>docker-compose up --scale digi-tech-one=5</a:t>
            </a:r>
            <a:endParaRPr lang="sk-SK" sz="2600" b="1" i="1">
              <a:solidFill>
                <a:schemeClr val="accent2"/>
              </a:solidFill>
            </a:endParaRPr>
          </a:p>
          <a:p>
            <a:endParaRPr lang="sk-SK" sz="2600" b="1" i="1"/>
          </a:p>
          <a:p>
            <a:endParaRPr lang="en-US" sz="2600" b="1" i="1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EE5534D-0A9B-49A0-BB2B-BF1BA41AA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37" y="1792178"/>
            <a:ext cx="6029325" cy="1466850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A9E0983-0BD3-4A2D-A72D-E2F35D0B6E9C}"/>
              </a:ext>
            </a:extLst>
          </p:cNvPr>
          <p:cNvCxnSpPr>
            <a:cxnSpLocks/>
          </p:cNvCxnSpPr>
          <p:nvPr/>
        </p:nvCxnSpPr>
        <p:spPr>
          <a:xfrm flipH="1" flipV="1">
            <a:off x="6197600" y="4726274"/>
            <a:ext cx="1052946" cy="65589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D208A90-4BCC-4497-AA77-619019E76ABB}"/>
              </a:ext>
            </a:extLst>
          </p:cNvPr>
          <p:cNvSpPr txBox="1"/>
          <p:nvPr/>
        </p:nvSpPr>
        <p:spPr>
          <a:xfrm>
            <a:off x="7250546" y="5234458"/>
            <a:ext cx="4583041" cy="630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sk-SK" sz="2600" b="1" i="1"/>
              <a:t>Spustenie piatich inštancií </a:t>
            </a:r>
            <a:endParaRPr lang="sk-SK" sz="2000" b="1" i="1"/>
          </a:p>
        </p:txBody>
      </p:sp>
    </p:spTree>
    <p:extLst>
      <p:ext uri="{BB962C8B-B14F-4D97-AF65-F5344CB8AC3E}">
        <p14:creationId xmlns:p14="http://schemas.microsoft.com/office/powerpoint/2010/main" val="1449731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-1730439" y="-90520"/>
            <a:ext cx="9055235" cy="1115610"/>
            <a:chOff x="2977622" y="-7144"/>
            <a:chExt cx="6452656" cy="126682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8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k-SK" sz="4000" b="1">
                  <a:solidFill>
                    <a:prstClr val="white"/>
                  </a:solidFill>
                  <a:latin typeface="+mj-lt"/>
                </a:rPr>
                <a:t>Implementácia</a:t>
              </a:r>
              <a:endParaRPr lang="en-US" sz="4000" b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14</a:t>
            </a:fld>
            <a:endParaRPr lang="en-US" sz="1800" b="1">
              <a:solidFill>
                <a:schemeClr val="tx1"/>
              </a:solidFill>
            </a:endParaRPr>
          </a:p>
        </p:txBody>
      </p:sp>
      <p:pic>
        <p:nvPicPr>
          <p:cNvPr id="12" name="Picture 2" descr="Download nginx Logo in SVG Vector or PNG File Format - Logo.wine">
            <a:extLst>
              <a:ext uri="{FF2B5EF4-FFF2-40B4-BE49-F238E27FC236}">
                <a16:creationId xmlns:a16="http://schemas.microsoft.com/office/drawing/2014/main" id="{F83DD07D-05D0-4028-950A-F28344FED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573" y="-625300"/>
            <a:ext cx="3277755" cy="2185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2E8C65-5C52-4DA8-89BD-60B4B8312141}"/>
              </a:ext>
            </a:extLst>
          </p:cNvPr>
          <p:cNvSpPr txBox="1"/>
          <p:nvPr/>
        </p:nvSpPr>
        <p:spPr>
          <a:xfrm>
            <a:off x="146229" y="863150"/>
            <a:ext cx="11207571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k-SK" sz="2600" b="1" i="1"/>
          </a:p>
          <a:p>
            <a:r>
              <a:rPr lang="sk-SK" sz="2600" b="1" i="1"/>
              <a:t>5.  Vyčkanie kým docker compose nabehne:</a:t>
            </a:r>
          </a:p>
          <a:p>
            <a:endParaRPr lang="sk-SK" sz="2600" b="1" i="1"/>
          </a:p>
          <a:p>
            <a:endParaRPr lang="en-US" sz="2600" b="1" i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289E4C-D18F-4B28-B456-35FB01364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37" y="1762739"/>
            <a:ext cx="8010525" cy="309562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027CA3-B8AF-4B52-BD5B-6A28642D9FE3}"/>
              </a:ext>
            </a:extLst>
          </p:cNvPr>
          <p:cNvCxnSpPr>
            <a:cxnSpLocks/>
          </p:cNvCxnSpPr>
          <p:nvPr/>
        </p:nvCxnSpPr>
        <p:spPr>
          <a:xfrm flipH="1" flipV="1">
            <a:off x="6012873" y="5006109"/>
            <a:ext cx="1237673" cy="37606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805690C-AB14-4DB8-9D70-55E882374B02}"/>
              </a:ext>
            </a:extLst>
          </p:cNvPr>
          <p:cNvSpPr txBox="1"/>
          <p:nvPr/>
        </p:nvSpPr>
        <p:spPr>
          <a:xfrm>
            <a:off x="7250546" y="5234458"/>
            <a:ext cx="4583041" cy="630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sk-SK" sz="2600" b="1" i="1"/>
              <a:t>Riešenie je pripravené</a:t>
            </a:r>
            <a:endParaRPr lang="sk-SK" sz="2000" b="1" i="1"/>
          </a:p>
        </p:txBody>
      </p:sp>
    </p:spTree>
    <p:extLst>
      <p:ext uri="{BB962C8B-B14F-4D97-AF65-F5344CB8AC3E}">
        <p14:creationId xmlns:p14="http://schemas.microsoft.com/office/powerpoint/2010/main" val="408067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-1730439" y="-90520"/>
            <a:ext cx="9055235" cy="1115610"/>
            <a:chOff x="2977622" y="-7144"/>
            <a:chExt cx="6452656" cy="126682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8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k-SK" sz="4000" b="1">
                  <a:solidFill>
                    <a:prstClr val="white"/>
                  </a:solidFill>
                  <a:latin typeface="+mj-lt"/>
                </a:rPr>
                <a:t>Implementácia</a:t>
              </a:r>
              <a:endParaRPr lang="en-US" sz="4000" b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15</a:t>
            </a:fld>
            <a:endParaRPr lang="en-US" sz="1800" b="1">
              <a:solidFill>
                <a:schemeClr val="tx1"/>
              </a:solidFill>
            </a:endParaRPr>
          </a:p>
        </p:txBody>
      </p:sp>
      <p:pic>
        <p:nvPicPr>
          <p:cNvPr id="12" name="Picture 2" descr="Download nginx Logo in SVG Vector or PNG File Format - Logo.wine">
            <a:extLst>
              <a:ext uri="{FF2B5EF4-FFF2-40B4-BE49-F238E27FC236}">
                <a16:creationId xmlns:a16="http://schemas.microsoft.com/office/drawing/2014/main" id="{F83DD07D-05D0-4028-950A-F28344FED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573" y="-625300"/>
            <a:ext cx="3277755" cy="2185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2E8C65-5C52-4DA8-89BD-60B4B8312141}"/>
              </a:ext>
            </a:extLst>
          </p:cNvPr>
          <p:cNvSpPr txBox="1"/>
          <p:nvPr/>
        </p:nvSpPr>
        <p:spPr>
          <a:xfrm>
            <a:off x="146229" y="863150"/>
            <a:ext cx="1120757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k-SK" sz="2600" b="1" i="1"/>
          </a:p>
          <a:p>
            <a:pPr marL="514350" indent="-514350">
              <a:buAutoNum type="arabicPeriod" startAt="5"/>
            </a:pPr>
            <a:r>
              <a:rPr lang="sk-SK" sz="2600" b="1" i="1"/>
              <a:t>Spustenie nasledovného príkazu v termináli:</a:t>
            </a:r>
          </a:p>
          <a:p>
            <a:pPr marL="514350" indent="-514350">
              <a:buAutoNum type="arabicPeriod" startAt="5"/>
            </a:pPr>
            <a:endParaRPr lang="sk-SK" sz="2600" b="1" i="1"/>
          </a:p>
          <a:p>
            <a:r>
              <a:rPr lang="sk-SK" sz="2600" b="1" i="1">
                <a:solidFill>
                  <a:schemeClr val="accent2"/>
                </a:solidFill>
              </a:rPr>
              <a:t>	docker container </a:t>
            </a:r>
            <a:r>
              <a:rPr lang="sk-SK" sz="2600" b="1" i="1" err="1">
                <a:solidFill>
                  <a:schemeClr val="accent2"/>
                </a:solidFill>
              </a:rPr>
              <a:t>ls</a:t>
            </a:r>
            <a:endParaRPr lang="sk-SK" sz="2600" b="1" i="1">
              <a:solidFill>
                <a:schemeClr val="accent2"/>
              </a:solidFill>
            </a:endParaRPr>
          </a:p>
          <a:p>
            <a:endParaRPr lang="sk-SK" sz="2600" b="1" i="1">
              <a:solidFill>
                <a:schemeClr val="accent2"/>
              </a:solidFill>
            </a:endParaRPr>
          </a:p>
          <a:p>
            <a:r>
              <a:rPr lang="sk-SK" sz="2600" b="1"/>
              <a:t>Malo by sa zobraziť 5 bežiacich inštancií:</a:t>
            </a:r>
          </a:p>
          <a:p>
            <a:endParaRPr lang="sk-SK" sz="2600" b="1" i="1">
              <a:solidFill>
                <a:schemeClr val="accent2"/>
              </a:solidFill>
            </a:endParaRPr>
          </a:p>
          <a:p>
            <a:pPr marL="514350" indent="-514350">
              <a:buAutoNum type="arabicPeriod" startAt="4"/>
            </a:pPr>
            <a:endParaRPr lang="sk-SK" sz="2600" b="1" i="1"/>
          </a:p>
          <a:p>
            <a:endParaRPr lang="en-US" sz="2600" b="1" i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17B551-4C2F-418A-8BA1-105373139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16" y="3528611"/>
            <a:ext cx="10525125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770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-1730439" y="-90520"/>
            <a:ext cx="9055235" cy="1115610"/>
            <a:chOff x="2977622" y="-7144"/>
            <a:chExt cx="6452656" cy="126682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8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k-SK" sz="4000" b="1">
                  <a:solidFill>
                    <a:prstClr val="white"/>
                  </a:solidFill>
                  <a:latin typeface="+mj-lt"/>
                </a:rPr>
                <a:t>Implementácia</a:t>
              </a:r>
              <a:endParaRPr lang="en-US" sz="4000" b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16</a:t>
            </a:fld>
            <a:endParaRPr lang="en-US" sz="1800" b="1">
              <a:solidFill>
                <a:schemeClr val="tx1"/>
              </a:solidFill>
            </a:endParaRPr>
          </a:p>
        </p:txBody>
      </p:sp>
      <p:pic>
        <p:nvPicPr>
          <p:cNvPr id="12" name="Picture 2" descr="Download nginx Logo in SVG Vector or PNG File Format - Logo.wine">
            <a:extLst>
              <a:ext uri="{FF2B5EF4-FFF2-40B4-BE49-F238E27FC236}">
                <a16:creationId xmlns:a16="http://schemas.microsoft.com/office/drawing/2014/main" id="{F83DD07D-05D0-4028-950A-F28344FED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573" y="-625300"/>
            <a:ext cx="3277755" cy="2185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2E8C65-5C52-4DA8-89BD-60B4B8312141}"/>
              </a:ext>
            </a:extLst>
          </p:cNvPr>
          <p:cNvSpPr txBox="1"/>
          <p:nvPr/>
        </p:nvSpPr>
        <p:spPr>
          <a:xfrm>
            <a:off x="146229" y="863150"/>
            <a:ext cx="11207571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k-SK" sz="2600" b="1" i="1"/>
          </a:p>
          <a:p>
            <a:pPr marL="514350" indent="-514350">
              <a:buAutoNum type="arabicPeriod" startAt="6"/>
            </a:pPr>
            <a:r>
              <a:rPr lang="sk-SK" sz="2600" b="1"/>
              <a:t>Otvorenie adresy </a:t>
            </a:r>
            <a:r>
              <a:rPr lang="sk-SK" sz="2600" b="1">
                <a:solidFill>
                  <a:schemeClr val="accent2"/>
                </a:solidFill>
                <a:hlinkClick r:id="rId3"/>
              </a:rPr>
              <a:t>http://localhost:5000/</a:t>
            </a:r>
            <a:endParaRPr lang="sk-SK" sz="2600" b="1">
              <a:solidFill>
                <a:schemeClr val="accent2"/>
              </a:solidFill>
            </a:endParaRPr>
          </a:p>
          <a:p>
            <a:endParaRPr lang="sk-SK" sz="2600" b="1">
              <a:solidFill>
                <a:schemeClr val="accent2"/>
              </a:solidFill>
            </a:endParaRPr>
          </a:p>
          <a:p>
            <a:r>
              <a:rPr lang="sk-SK" sz="2600" b="1"/>
              <a:t>      Mala by sa zobraziť naša web stránka:</a:t>
            </a:r>
          </a:p>
          <a:p>
            <a:pPr marL="514350" indent="-514350">
              <a:buAutoNum type="arabicPeriod" startAt="4"/>
            </a:pPr>
            <a:endParaRPr lang="sk-SK" sz="2600" b="1" i="1"/>
          </a:p>
          <a:p>
            <a:endParaRPr lang="en-US" sz="2600" b="1" i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22E37D-F5B8-4E70-8553-D1985FD5C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07" y="2772207"/>
            <a:ext cx="2647950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33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-1711967" y="-92322"/>
            <a:ext cx="9055235" cy="1921122"/>
            <a:chOff x="2977622" y="-7144"/>
            <a:chExt cx="6452656" cy="1628404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1502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k-SK" sz="4000" b="1">
                  <a:solidFill>
                    <a:prstClr val="white"/>
                  </a:solidFill>
                  <a:latin typeface="+mj-lt"/>
                </a:rPr>
                <a:t>Docker image vo </a:t>
              </a:r>
            </a:p>
            <a:p>
              <a:pPr algn="ctr"/>
              <a:r>
                <a:rPr lang="sk-SK" sz="4000" b="1">
                  <a:solidFill>
                    <a:prstClr val="white"/>
                  </a:solidFill>
                  <a:latin typeface="+mj-lt"/>
                </a:rPr>
                <a:t>vzdialenom repozitári</a:t>
              </a:r>
            </a:p>
          </p:txBody>
        </p:sp>
      </p:grp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17</a:t>
            </a:fld>
            <a:endParaRPr lang="en-US" sz="1800" b="1">
              <a:solidFill>
                <a:schemeClr val="tx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24AD1BF-14BF-4A0D-A4E5-DC53D5EE6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28" y="1550378"/>
            <a:ext cx="7429499" cy="3879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521010D-A4F5-4021-A16D-410CC2579591}"/>
              </a:ext>
            </a:extLst>
          </p:cNvPr>
          <p:cNvSpPr txBox="1"/>
          <p:nvPr/>
        </p:nvSpPr>
        <p:spPr>
          <a:xfrm>
            <a:off x="6047412" y="-92322"/>
            <a:ext cx="6929020" cy="69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000" b="1">
                <a:solidFill>
                  <a:schemeClr val="accent2"/>
                </a:solidFill>
              </a:rPr>
              <a:t>Docker </a:t>
            </a:r>
            <a:r>
              <a:rPr lang="en-US" sz="2000" b="1">
                <a:solidFill>
                  <a:schemeClr val="accent2"/>
                </a:solidFill>
              </a:rPr>
              <a:t>registry</a:t>
            </a:r>
            <a:r>
              <a:rPr lang="sk-SK" sz="2000" b="1">
                <a:solidFill>
                  <a:schemeClr val="accent2"/>
                </a:solidFill>
              </a:rPr>
              <a:t> </a:t>
            </a:r>
            <a:r>
              <a:rPr lang="sk-SK" sz="2000"/>
              <a:t>–</a:t>
            </a:r>
            <a:r>
              <a:rPr lang="sk-SK" sz="2000" b="1">
                <a:solidFill>
                  <a:schemeClr val="accent2"/>
                </a:solidFill>
              </a:rPr>
              <a:t> </a:t>
            </a:r>
            <a:r>
              <a:rPr lang="sk-SK" sz="2000"/>
              <a:t>skladovanie Docker images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sk-SK" sz="2000" b="1">
                <a:solidFill>
                  <a:srgbClr val="00B050"/>
                </a:solidFill>
              </a:rPr>
              <a:t>Dostupnosť:</a:t>
            </a:r>
            <a:endParaRPr lang="en-US" sz="2000" b="1">
              <a:solidFill>
                <a:srgbClr val="00B050"/>
              </a:solidFill>
            </a:endParaRP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000" b="1">
                <a:solidFill>
                  <a:schemeClr val="accent2"/>
                </a:solidFill>
              </a:rPr>
              <a:t>Verejné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000" b="1">
                <a:solidFill>
                  <a:schemeClr val="accent2"/>
                </a:solidFill>
              </a:rPr>
              <a:t>Súkromné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sk-SK" sz="2000" b="1">
              <a:solidFill>
                <a:schemeClr val="accent2"/>
              </a:solidFill>
            </a:endParaRP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sk-SK" sz="2000" b="1">
              <a:solidFill>
                <a:schemeClr val="accent2"/>
              </a:solidFill>
            </a:endParaRP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sk-SK" sz="2000" b="1">
              <a:solidFill>
                <a:schemeClr val="accent2"/>
              </a:solidFill>
            </a:endParaRP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sk-SK" sz="2000" b="1">
              <a:solidFill>
                <a:schemeClr val="accent2"/>
              </a:solidFill>
            </a:endParaRP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sk-SK" sz="2000" b="1">
                <a:solidFill>
                  <a:srgbClr val="00B050"/>
                </a:solidFill>
              </a:rPr>
              <a:t>Lokalita: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000" b="1">
                <a:solidFill>
                  <a:schemeClr val="accent2"/>
                </a:solidFill>
              </a:rPr>
              <a:t>Lokálne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000" b="1">
                <a:solidFill>
                  <a:schemeClr val="accent2"/>
                </a:solidFill>
              </a:rPr>
              <a:t>Vzdialené</a:t>
            </a:r>
            <a:endParaRPr lang="en-US" sz="20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000"/>
              <a:t>Poskytovatelia vzdialeného uloženia: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000" b="1">
                <a:solidFill>
                  <a:schemeClr val="accent2"/>
                </a:solidFill>
              </a:rPr>
              <a:t>Docker Hub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000" b="1">
                <a:solidFill>
                  <a:schemeClr val="accent2"/>
                </a:solidFill>
              </a:rPr>
              <a:t>Azure Container Registry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000" b="1">
                <a:solidFill>
                  <a:schemeClr val="accent2"/>
                </a:solidFill>
              </a:rPr>
              <a:t>Amazon </a:t>
            </a:r>
            <a:r>
              <a:rPr lang="sk-SK" sz="2000" b="1" err="1">
                <a:solidFill>
                  <a:schemeClr val="accent2"/>
                </a:solidFill>
              </a:rPr>
              <a:t>Elastic</a:t>
            </a:r>
            <a:r>
              <a:rPr lang="sk-SK" sz="2000" b="1">
                <a:solidFill>
                  <a:schemeClr val="accent2"/>
                </a:solidFill>
              </a:rPr>
              <a:t> Container Registry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789E9F-E1B9-4478-995E-D66D537A160B}"/>
              </a:ext>
            </a:extLst>
          </p:cNvPr>
          <p:cNvCxnSpPr>
            <a:cxnSpLocks/>
          </p:cNvCxnSpPr>
          <p:nvPr/>
        </p:nvCxnSpPr>
        <p:spPr>
          <a:xfrm flipH="1">
            <a:off x="5373278" y="648831"/>
            <a:ext cx="896567" cy="109512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826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-1730439" y="-90520"/>
            <a:ext cx="9055235" cy="1115610"/>
            <a:chOff x="2977622" y="-7144"/>
            <a:chExt cx="6452656" cy="126682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8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>
                  <a:solidFill>
                    <a:prstClr val="white"/>
                  </a:solidFill>
                  <a:latin typeface="+mj-lt"/>
                </a:rPr>
                <a:t>Docker hub</a:t>
              </a:r>
              <a:endParaRPr lang="en-US" sz="4000" b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18</a:t>
            </a:fld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01270-9E11-4599-8755-43043EB1D7BF}"/>
              </a:ext>
            </a:extLst>
          </p:cNvPr>
          <p:cNvSpPr txBox="1"/>
          <p:nvPr/>
        </p:nvSpPr>
        <p:spPr>
          <a:xfrm>
            <a:off x="634998" y="1517965"/>
            <a:ext cx="10190019" cy="241604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sz="2600" b="1"/>
              <a:t>Podmienky: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sk-SK" sz="2600" b="1"/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sk-SK" sz="2000"/>
              <a:t>Nainštalovaný Docker desktop</a:t>
            </a: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sk-SK" sz="2000"/>
              <a:t>Vytvorený účet na </a:t>
            </a:r>
            <a:r>
              <a:rPr lang="sk-SK" sz="2000">
                <a:hlinkClick r:id="rId2"/>
              </a:rPr>
              <a:t>https://hub.docker.com</a:t>
            </a:r>
            <a:r>
              <a:rPr lang="sk-SK" sz="2000"/>
              <a:t> </a:t>
            </a:r>
            <a:endParaRPr lang="sk-SK" sz="2600" b="1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sk-SK" sz="26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47942C-693D-4FAD-BBA4-3D53E131B80E}"/>
              </a:ext>
            </a:extLst>
          </p:cNvPr>
          <p:cNvSpPr txBox="1"/>
          <p:nvPr/>
        </p:nvSpPr>
        <p:spPr>
          <a:xfrm>
            <a:off x="544833" y="3785493"/>
            <a:ext cx="10190019" cy="630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sk-SK" sz="2600" b="1"/>
              <a:t>Vytvorenie Docker registry repozitára - </a:t>
            </a:r>
            <a:r>
              <a:rPr lang="sk-SK" sz="2000">
                <a:hlinkClick r:id="rId3"/>
              </a:rPr>
              <a:t>https://hub.docker.com/repositories</a:t>
            </a:r>
            <a:r>
              <a:rPr lang="sk-SK" sz="2000"/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20F95C-AB16-4158-B8E4-8CA4884A0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45837"/>
            <a:ext cx="12192000" cy="226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210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-1730439" y="-90520"/>
            <a:ext cx="9055235" cy="1115610"/>
            <a:chOff x="2977622" y="-7144"/>
            <a:chExt cx="6452656" cy="126682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8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>
                  <a:solidFill>
                    <a:prstClr val="white"/>
                  </a:solidFill>
                  <a:latin typeface="+mj-lt"/>
                </a:rPr>
                <a:t>Docker hub</a:t>
              </a:r>
              <a:endParaRPr lang="en-US" sz="4000" b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19</a:t>
            </a:fld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47942C-693D-4FAD-BBA4-3D53E131B80E}"/>
              </a:ext>
            </a:extLst>
          </p:cNvPr>
          <p:cNvSpPr txBox="1"/>
          <p:nvPr/>
        </p:nvSpPr>
        <p:spPr>
          <a:xfrm>
            <a:off x="8109527" y="1845857"/>
            <a:ext cx="3569854" cy="630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sk-SK" sz="2600" b="1"/>
              <a:t>digitech_priezvisko</a:t>
            </a:r>
            <a:endParaRPr lang="sk-SK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70C94A-E37F-4BC5-9CEE-346B0941D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63" y="1236486"/>
            <a:ext cx="7467600" cy="539115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C5B4404-BDBC-407C-943A-687FBDF763C6}"/>
              </a:ext>
            </a:extLst>
          </p:cNvPr>
          <p:cNvCxnSpPr>
            <a:cxnSpLocks/>
          </p:cNvCxnSpPr>
          <p:nvPr/>
        </p:nvCxnSpPr>
        <p:spPr>
          <a:xfrm flipH="1">
            <a:off x="3629891" y="2318327"/>
            <a:ext cx="4479636" cy="7481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9C4C16-2949-477F-9DB0-84A756A14E2B}"/>
              </a:ext>
            </a:extLst>
          </p:cNvPr>
          <p:cNvCxnSpPr>
            <a:cxnSpLocks/>
          </p:cNvCxnSpPr>
          <p:nvPr/>
        </p:nvCxnSpPr>
        <p:spPr>
          <a:xfrm flipH="1">
            <a:off x="2170545" y="4498109"/>
            <a:ext cx="6243782" cy="77585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79D6494-CF7B-4491-B056-3C7064B2D023}"/>
              </a:ext>
            </a:extLst>
          </p:cNvPr>
          <p:cNvSpPr txBox="1"/>
          <p:nvPr/>
        </p:nvSpPr>
        <p:spPr>
          <a:xfrm>
            <a:off x="8478982" y="4182894"/>
            <a:ext cx="3569854" cy="630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sk-SK" sz="2600" b="1"/>
              <a:t>Verejné dostupný</a:t>
            </a:r>
            <a:endParaRPr lang="sk-SK" sz="2000"/>
          </a:p>
        </p:txBody>
      </p:sp>
    </p:spTree>
    <p:extLst>
      <p:ext uri="{BB962C8B-B14F-4D97-AF65-F5344CB8AC3E}">
        <p14:creationId xmlns:p14="http://schemas.microsoft.com/office/powerpoint/2010/main" val="4041845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-1730439" y="-90520"/>
            <a:ext cx="9055235" cy="1115610"/>
            <a:chOff x="2977622" y="-7144"/>
            <a:chExt cx="6452656" cy="126682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8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>
                  <a:solidFill>
                    <a:prstClr val="white"/>
                  </a:solidFill>
                  <a:latin typeface="+mj-lt"/>
                </a:rPr>
                <a:t>Docker hub</a:t>
              </a:r>
              <a:endParaRPr lang="en-US" sz="4000" b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20</a:t>
            </a:fld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47942C-693D-4FAD-BBA4-3D53E131B80E}"/>
              </a:ext>
            </a:extLst>
          </p:cNvPr>
          <p:cNvSpPr txBox="1"/>
          <p:nvPr/>
        </p:nvSpPr>
        <p:spPr>
          <a:xfrm>
            <a:off x="360106" y="1236257"/>
            <a:ext cx="11600985" cy="4231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sk-SK" sz="2600" b="1"/>
              <a:t>2.  Spustenie príkazu z cmd: </a:t>
            </a:r>
            <a:r>
              <a:rPr lang="sk-SK" sz="2600" i="1">
                <a:solidFill>
                  <a:schemeClr val="accent2"/>
                </a:solidFill>
              </a:rPr>
              <a:t>docker login</a:t>
            </a:r>
          </a:p>
          <a:p>
            <a:pPr>
              <a:lnSpc>
                <a:spcPct val="150000"/>
              </a:lnSpc>
            </a:pPr>
            <a:r>
              <a:rPr lang="sk-SK" sz="2600" b="1"/>
              <a:t>3.  Tagovanie image</a:t>
            </a:r>
          </a:p>
          <a:p>
            <a:pPr lvl="1">
              <a:lnSpc>
                <a:spcPct val="150000"/>
              </a:lnSpc>
            </a:pPr>
            <a:r>
              <a:rPr lang="sk-SK" sz="2600"/>
              <a:t>Predpis: </a:t>
            </a:r>
            <a:r>
              <a:rPr lang="sk-SK" sz="2600" i="1"/>
              <a:t>docker tag </a:t>
            </a:r>
            <a:r>
              <a:rPr lang="sk-SK" sz="2600" i="1" err="1"/>
              <a:t>imageid</a:t>
            </a:r>
            <a:r>
              <a:rPr lang="sk-SK" sz="2600" i="1"/>
              <a:t> </a:t>
            </a:r>
            <a:r>
              <a:rPr lang="sk-SK" sz="2600" i="1" err="1"/>
              <a:t>new-repo:tagname</a:t>
            </a:r>
            <a:endParaRPr lang="sk-SK" sz="2600" i="1"/>
          </a:p>
          <a:p>
            <a:pPr lvl="1">
              <a:lnSpc>
                <a:spcPct val="150000"/>
              </a:lnSpc>
            </a:pPr>
            <a:r>
              <a:rPr lang="sk-SK" sz="2600" b="1"/>
              <a:t>Spustenie príkazu z cmd – ukážka: </a:t>
            </a:r>
          </a:p>
          <a:p>
            <a:pPr lvl="1">
              <a:lnSpc>
                <a:spcPct val="150000"/>
              </a:lnSpc>
            </a:pPr>
            <a:r>
              <a:rPr lang="sk-SK" sz="2600" b="1"/>
              <a:t>	</a:t>
            </a:r>
            <a:r>
              <a:rPr lang="sk-SK" sz="2600" i="1">
                <a:solidFill>
                  <a:schemeClr val="accent2"/>
                </a:solidFill>
              </a:rPr>
              <a:t>docker tag afc8b4ede07e </a:t>
            </a:r>
            <a:r>
              <a:rPr lang="sk-SK" sz="2600" i="1" err="1">
                <a:solidFill>
                  <a:schemeClr val="accent2"/>
                </a:solidFill>
              </a:rPr>
              <a:t>lukys</a:t>
            </a:r>
            <a:r>
              <a:rPr lang="sk-SK" sz="2600" i="1">
                <a:solidFill>
                  <a:schemeClr val="accent2"/>
                </a:solidFill>
              </a:rPr>
              <a:t>/digitech_beno:version2.0</a:t>
            </a:r>
          </a:p>
          <a:p>
            <a:pPr>
              <a:lnSpc>
                <a:spcPct val="150000"/>
              </a:lnSpc>
            </a:pPr>
            <a:r>
              <a:rPr lang="sk-SK" sz="2600" i="1">
                <a:solidFill>
                  <a:schemeClr val="accent2"/>
                </a:solidFill>
              </a:rPr>
              <a:t>	</a:t>
            </a:r>
          </a:p>
          <a:p>
            <a:pPr>
              <a:lnSpc>
                <a:spcPct val="150000"/>
              </a:lnSpc>
            </a:pPr>
            <a:endParaRPr lang="sk-SK" sz="26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2C4C4B-FFBB-40EE-83BE-ADCACCE77367}"/>
              </a:ext>
            </a:extLst>
          </p:cNvPr>
          <p:cNvSpPr txBox="1"/>
          <p:nvPr/>
        </p:nvSpPr>
        <p:spPr>
          <a:xfrm>
            <a:off x="7645904" y="921042"/>
            <a:ext cx="3569854" cy="630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sk-SK" sz="2600" i="1"/>
              <a:t>Príkaz - </a:t>
            </a:r>
            <a:r>
              <a:rPr lang="sk-SK" sz="2600" i="1">
                <a:solidFill>
                  <a:schemeClr val="accent2"/>
                </a:solidFill>
              </a:rPr>
              <a:t>docker images</a:t>
            </a:r>
            <a:endParaRPr lang="sk-SK" sz="2000" i="1">
              <a:solidFill>
                <a:schemeClr val="accent2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6DB5F6B-F783-40E5-85BC-51FA285ACDDB}"/>
              </a:ext>
            </a:extLst>
          </p:cNvPr>
          <p:cNvCxnSpPr>
            <a:cxnSpLocks/>
          </p:cNvCxnSpPr>
          <p:nvPr/>
        </p:nvCxnSpPr>
        <p:spPr>
          <a:xfrm flipH="1">
            <a:off x="4525818" y="1390328"/>
            <a:ext cx="3011055" cy="122356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5FA053BD-F8FA-4EE9-B4C0-B4B55B0BA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833" y="5621743"/>
            <a:ext cx="7781925" cy="485775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AFC034E-9795-473F-A6C2-13CEBA476CFD}"/>
              </a:ext>
            </a:extLst>
          </p:cNvPr>
          <p:cNvCxnSpPr>
            <a:cxnSpLocks/>
          </p:cNvCxnSpPr>
          <p:nvPr/>
        </p:nvCxnSpPr>
        <p:spPr>
          <a:xfrm flipH="1">
            <a:off x="9430831" y="1551471"/>
            <a:ext cx="1079248" cy="391620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80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-1730439" y="-90520"/>
            <a:ext cx="9055235" cy="1115610"/>
            <a:chOff x="2977622" y="-7144"/>
            <a:chExt cx="6452656" cy="126682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8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>
                  <a:solidFill>
                    <a:prstClr val="white"/>
                  </a:solidFill>
                  <a:latin typeface="+mj-lt"/>
                </a:rPr>
                <a:t>Docker hub</a:t>
              </a:r>
              <a:endParaRPr lang="en-US" sz="4000" b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21</a:t>
            </a:fld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47942C-693D-4FAD-BBA4-3D53E131B80E}"/>
              </a:ext>
            </a:extLst>
          </p:cNvPr>
          <p:cNvSpPr txBox="1"/>
          <p:nvPr/>
        </p:nvSpPr>
        <p:spPr>
          <a:xfrm>
            <a:off x="0" y="1025090"/>
            <a:ext cx="11600985" cy="2430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sk-SK" sz="2600" b="1"/>
              <a:t>4.  Uloženie image vo vzdialenom repozitári </a:t>
            </a:r>
          </a:p>
          <a:p>
            <a:pPr lvl="1">
              <a:lnSpc>
                <a:spcPct val="150000"/>
              </a:lnSpc>
            </a:pPr>
            <a:r>
              <a:rPr lang="sk-SK" sz="2600"/>
              <a:t>Predpis: </a:t>
            </a:r>
            <a:r>
              <a:rPr lang="sk-SK" sz="2600" i="1"/>
              <a:t>docker push </a:t>
            </a:r>
            <a:r>
              <a:rPr lang="sk-SK" sz="2600" i="1" err="1"/>
              <a:t>new-repo:tagname</a:t>
            </a:r>
            <a:endParaRPr lang="sk-SK" sz="2600" i="1"/>
          </a:p>
          <a:p>
            <a:pPr lvl="1">
              <a:lnSpc>
                <a:spcPct val="150000"/>
              </a:lnSpc>
            </a:pPr>
            <a:r>
              <a:rPr lang="sk-SK" sz="2600" b="1"/>
              <a:t>Spustenie príkazu z cmd: </a:t>
            </a:r>
            <a:endParaRPr lang="sk-SK" sz="2600" i="1"/>
          </a:p>
          <a:p>
            <a:pPr lvl="1">
              <a:lnSpc>
                <a:spcPct val="150000"/>
              </a:lnSpc>
            </a:pPr>
            <a:r>
              <a:rPr lang="sk-SK" sz="2600" i="1">
                <a:solidFill>
                  <a:schemeClr val="accent2"/>
                </a:solidFill>
              </a:rPr>
              <a:t>docker push </a:t>
            </a:r>
            <a:r>
              <a:rPr lang="sk-SK" sz="2600" i="1" err="1">
                <a:solidFill>
                  <a:schemeClr val="accent2"/>
                </a:solidFill>
              </a:rPr>
              <a:t>lukys</a:t>
            </a:r>
            <a:r>
              <a:rPr lang="sk-SK" sz="2600" i="1">
                <a:solidFill>
                  <a:schemeClr val="accent2"/>
                </a:solidFill>
              </a:rPr>
              <a:t>/digitech_beno:version2.0</a:t>
            </a:r>
            <a:endParaRPr lang="sk-SK" sz="2000" i="1">
              <a:solidFill>
                <a:schemeClr val="accent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0D3727-FDC6-4492-AB07-2CE615E2F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068" y="644698"/>
            <a:ext cx="5487452" cy="472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56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-1776621" y="-83085"/>
            <a:ext cx="9055235" cy="1967304"/>
            <a:chOff x="2977622" y="-7144"/>
            <a:chExt cx="6452656" cy="1628404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1502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k-SK" sz="4000" b="1">
                  <a:solidFill>
                    <a:prstClr val="white"/>
                  </a:solidFill>
                  <a:latin typeface="+mj-lt"/>
                </a:rPr>
                <a:t>Kubernates – </a:t>
              </a:r>
            </a:p>
            <a:p>
              <a:pPr algn="ctr"/>
              <a:r>
                <a:rPr lang="sk-SK" sz="4000" b="1">
                  <a:solidFill>
                    <a:prstClr val="white"/>
                  </a:solidFill>
                  <a:latin typeface="+mj-lt"/>
                </a:rPr>
                <a:t>rozšírenie obzoru</a:t>
              </a:r>
              <a:endParaRPr lang="en-US" sz="4000" b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026D58D-D4F9-4FA6-9388-A46511A1AF16}"/>
              </a:ext>
            </a:extLst>
          </p:cNvPr>
          <p:cNvSpPr txBox="1"/>
          <p:nvPr/>
        </p:nvSpPr>
        <p:spPr>
          <a:xfrm>
            <a:off x="246640" y="1606581"/>
            <a:ext cx="11446596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400" b="1"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https://www.websupport.sk/blog/2022/09/ovladnite-serverove-technologie/?xnpe_tifc=OIQsh.zp4dojhkbjxDoXbjpZhfEWVjQsVuU_O.YpOIHD4Mps4uQNxDHXbD4.4.YJh.Y8&amp;utm_source=exponea&amp;utm_campaign=Polovica%20ceny%20.SK%20adresy%20je%20dnes%20na%20n%C3%A1s&amp;utm_medium=mail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sk-SK" sz="2400" b="1"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https://www.atpjournal.sk/buxus/docs/casopisy_cele/ATP%20Journal%209%202022.pdf#page=54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400" b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https://magazin.kpi.fei.tuke.sk/2019/04/kubernetes-a-jeho-zakladne-pouzitie/</a:t>
            </a:r>
            <a:r>
              <a:rPr lang="sk-SK" sz="2400" b="1"/>
              <a:t> </a:t>
            </a:r>
            <a:endParaRPr lang="sk-SK" sz="2400" i="1"/>
          </a:p>
        </p:txBody>
      </p: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22</a:t>
            </a:fld>
            <a:endParaRPr lang="en-US" sz="1800" b="1">
              <a:solidFill>
                <a:schemeClr val="tx1"/>
              </a:solidFill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64CDF35-F037-48CE-8567-4EEE4830A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131" y="155518"/>
            <a:ext cx="1691978" cy="1641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911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FBBDFEE-2A1E-4FD0-88AC-197324EA75BC}"/>
              </a:ext>
            </a:extLst>
          </p:cNvPr>
          <p:cNvSpPr/>
          <p:nvPr/>
        </p:nvSpPr>
        <p:spPr>
          <a:xfrm>
            <a:off x="511968" y="181298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670288D-C200-4D38-8A32-90DEC68CD8E5}"/>
              </a:ext>
            </a:extLst>
          </p:cNvPr>
          <p:cNvSpPr/>
          <p:nvPr/>
        </p:nvSpPr>
        <p:spPr>
          <a:xfrm>
            <a:off x="10249662" y="1812989"/>
            <a:ext cx="228600" cy="228600"/>
          </a:xfrm>
          <a:custGeom>
            <a:avLst/>
            <a:gdLst>
              <a:gd name="connsiteX0" fmla="*/ 222219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9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9" y="114681"/>
                </a:moveTo>
                <a:cubicBezTo>
                  <a:pt x="222219" y="174072"/>
                  <a:pt x="174073" y="222218"/>
                  <a:pt x="114681" y="222218"/>
                </a:cubicBezTo>
                <a:cubicBezTo>
                  <a:pt x="55289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3" y="7144"/>
                  <a:pt x="222219" y="55290"/>
                  <a:pt x="222219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7DD0ACC-4BDE-4C74-B23E-3BEAD910C0DA}"/>
              </a:ext>
            </a:extLst>
          </p:cNvPr>
          <p:cNvSpPr/>
          <p:nvPr/>
        </p:nvSpPr>
        <p:spPr>
          <a:xfrm>
            <a:off x="11446954" y="62131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3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C3D5670-0328-432A-BB9B-A5D324CA8B5C}"/>
              </a:ext>
            </a:extLst>
          </p:cNvPr>
          <p:cNvSpPr/>
          <p:nvPr/>
        </p:nvSpPr>
        <p:spPr>
          <a:xfrm>
            <a:off x="3109245" y="159791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6ACE5B7-6208-40AD-BB0D-4EEA9FF52E70}"/>
              </a:ext>
            </a:extLst>
          </p:cNvPr>
          <p:cNvGrpSpPr/>
          <p:nvPr/>
        </p:nvGrpSpPr>
        <p:grpSpPr>
          <a:xfrm>
            <a:off x="0" y="0"/>
            <a:ext cx="4051300" cy="1266825"/>
            <a:chOff x="4178300" y="-7144"/>
            <a:chExt cx="4051300" cy="1266825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3E1B388-A3D6-4824-BDBA-4D3716B85B09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06D8EB6-2522-4B27-B2E2-9F28326C3EA6}"/>
                </a:ext>
              </a:extLst>
            </p:cNvPr>
            <p:cNvSpPr txBox="1"/>
            <p:nvPr/>
          </p:nvSpPr>
          <p:spPr>
            <a:xfrm>
              <a:off x="4571655" y="69933"/>
              <a:ext cx="329064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sk-SK" sz="6000" b="1">
                  <a:solidFill>
                    <a:schemeClr val="bg1"/>
                  </a:solidFill>
                  <a:latin typeface="+mj-lt"/>
                </a:rPr>
                <a:t>Literatúra</a:t>
              </a:r>
              <a:endParaRPr lang="en-US" sz="6000" b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794B8DA-3A23-4F71-B128-135743C73A82}"/>
              </a:ext>
            </a:extLst>
          </p:cNvPr>
          <p:cNvSpPr txBox="1"/>
          <p:nvPr/>
        </p:nvSpPr>
        <p:spPr>
          <a:xfrm>
            <a:off x="347212" y="2170778"/>
            <a:ext cx="1145143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sz="3200" b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http://nginx.org/en/docs/http/load_balancing.html</a:t>
            </a:r>
            <a:endParaRPr lang="sk-SK" sz="3200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sz="32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https://cs.wikipedia.org/wiki/Round-robin_DNS</a:t>
            </a:r>
            <a:endParaRPr lang="sk-SK" sz="3200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sz="32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https://pspdfkit.com/blog/2018/how-to-use-docker-compose-to-run-multiple-instances-of-a-service-in-development/</a:t>
            </a:r>
            <a:r>
              <a:rPr lang="sk-SK" sz="3200" b="1"/>
              <a:t> </a:t>
            </a:r>
            <a:endParaRPr lang="en-US" sz="3200" b="1"/>
          </a:p>
        </p:txBody>
      </p:sp>
      <p:pic>
        <p:nvPicPr>
          <p:cNvPr id="2050" name="Picture 2" descr="What is docker? What are Containers? What can I use containers for? (NAV on  Docker #3) | Freddys blog">
            <a:extLst>
              <a:ext uri="{FF2B5EF4-FFF2-40B4-BE49-F238E27FC236}">
                <a16:creationId xmlns:a16="http://schemas.microsoft.com/office/drawing/2014/main" id="{F2716BEE-E02D-442F-8C53-0ECC2BB2D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9348" y="345790"/>
            <a:ext cx="1999297" cy="149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338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FBBDFEE-2A1E-4FD0-88AC-197324EA75BC}"/>
              </a:ext>
            </a:extLst>
          </p:cNvPr>
          <p:cNvSpPr/>
          <p:nvPr/>
        </p:nvSpPr>
        <p:spPr>
          <a:xfrm>
            <a:off x="511968" y="1812989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670288D-C200-4D38-8A32-90DEC68CD8E5}"/>
              </a:ext>
            </a:extLst>
          </p:cNvPr>
          <p:cNvSpPr/>
          <p:nvPr/>
        </p:nvSpPr>
        <p:spPr>
          <a:xfrm>
            <a:off x="10249662" y="1812989"/>
            <a:ext cx="228600" cy="228600"/>
          </a:xfrm>
          <a:custGeom>
            <a:avLst/>
            <a:gdLst>
              <a:gd name="connsiteX0" fmla="*/ 222219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9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9" y="114681"/>
                </a:moveTo>
                <a:cubicBezTo>
                  <a:pt x="222219" y="174072"/>
                  <a:pt x="174073" y="222218"/>
                  <a:pt x="114681" y="222218"/>
                </a:cubicBezTo>
                <a:cubicBezTo>
                  <a:pt x="55289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3" y="7144"/>
                  <a:pt x="222219" y="55290"/>
                  <a:pt x="222219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7DD0ACC-4BDE-4C74-B23E-3BEAD910C0DA}"/>
              </a:ext>
            </a:extLst>
          </p:cNvPr>
          <p:cNvSpPr/>
          <p:nvPr/>
        </p:nvSpPr>
        <p:spPr>
          <a:xfrm>
            <a:off x="11446954" y="621316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3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C3D5670-0328-432A-BB9B-A5D324CA8B5C}"/>
              </a:ext>
            </a:extLst>
          </p:cNvPr>
          <p:cNvSpPr/>
          <p:nvPr/>
        </p:nvSpPr>
        <p:spPr>
          <a:xfrm>
            <a:off x="3109245" y="159791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6ACE5B7-6208-40AD-BB0D-4EEA9FF52E70}"/>
              </a:ext>
            </a:extLst>
          </p:cNvPr>
          <p:cNvGrpSpPr/>
          <p:nvPr/>
        </p:nvGrpSpPr>
        <p:grpSpPr>
          <a:xfrm>
            <a:off x="0" y="0"/>
            <a:ext cx="4051300" cy="1266825"/>
            <a:chOff x="4178300" y="-7144"/>
            <a:chExt cx="4051300" cy="1266825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3E1B388-A3D6-4824-BDBA-4D3716B85B09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06D8EB6-2522-4B27-B2E2-9F28326C3EA6}"/>
                </a:ext>
              </a:extLst>
            </p:cNvPr>
            <p:cNvSpPr txBox="1"/>
            <p:nvPr/>
          </p:nvSpPr>
          <p:spPr>
            <a:xfrm>
              <a:off x="4571655" y="69933"/>
              <a:ext cx="329064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sk-SK" sz="6000" b="1">
                  <a:solidFill>
                    <a:schemeClr val="bg1"/>
                  </a:solidFill>
                  <a:latin typeface="+mj-lt"/>
                </a:rPr>
                <a:t>Literatúra</a:t>
              </a:r>
              <a:endParaRPr lang="en-US" sz="6000" b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794B8DA-3A23-4F71-B128-135743C73A82}"/>
              </a:ext>
            </a:extLst>
          </p:cNvPr>
          <p:cNvSpPr txBox="1"/>
          <p:nvPr/>
        </p:nvSpPr>
        <p:spPr>
          <a:xfrm>
            <a:off x="347212" y="2170778"/>
            <a:ext cx="1145143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sz="3200" b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https://levelup.gitconnected.com/dockerize-a-hello-world-node-js-application-a15c0564a50e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sz="3200" b="1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https://docs.docker.com/get-started/overview/</a:t>
            </a:r>
            <a:r>
              <a:rPr lang="sk-SK" sz="3200" b="1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sz="32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sz="3200" b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https://docs.docker.com/storage/</a:t>
            </a:r>
            <a:r>
              <a:rPr lang="sk-SK" sz="3200" b="1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sz="32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https://learn.microsoft.com/en-us/dotnet/core/docker/build-container?tabs=windows</a:t>
            </a:r>
            <a:r>
              <a:rPr lang="sk-SK" sz="3200" b="1"/>
              <a:t> </a:t>
            </a:r>
            <a:endParaRPr lang="en-US" sz="3200" b="1"/>
          </a:p>
        </p:txBody>
      </p:sp>
      <p:pic>
        <p:nvPicPr>
          <p:cNvPr id="2050" name="Picture 2" descr="What is docker? What are Containers? What can I use containers for? (NAV on  Docker #3) | Freddys blog">
            <a:extLst>
              <a:ext uri="{FF2B5EF4-FFF2-40B4-BE49-F238E27FC236}">
                <a16:creationId xmlns:a16="http://schemas.microsoft.com/office/drawing/2014/main" id="{F2716BEE-E02D-442F-8C53-0ECC2BB2D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9348" y="345790"/>
            <a:ext cx="1999297" cy="149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463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7534A5-EF7C-44F2-A4D2-B5A06D74FF29}"/>
              </a:ext>
            </a:extLst>
          </p:cNvPr>
          <p:cNvGrpSpPr/>
          <p:nvPr/>
        </p:nvGrpSpPr>
        <p:grpSpPr>
          <a:xfrm>
            <a:off x="4901270" y="-46140"/>
            <a:ext cx="9055235" cy="1967304"/>
            <a:chOff x="2977622" y="-7144"/>
            <a:chExt cx="6452656" cy="1628404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6EF7DD-17FF-4BFF-B026-99B4E8C9A712}"/>
                </a:ext>
              </a:extLst>
            </p:cNvPr>
            <p:cNvSpPr/>
            <p:nvPr/>
          </p:nvSpPr>
          <p:spPr>
            <a:xfrm>
              <a:off x="4178300" y="-7144"/>
              <a:ext cx="4051300" cy="1266825"/>
            </a:xfrm>
            <a:custGeom>
              <a:avLst/>
              <a:gdLst>
                <a:gd name="connsiteX0" fmla="*/ 3253264 w 3543300"/>
                <a:gd name="connsiteY0" fmla="*/ 1263968 h 1266825"/>
                <a:gd name="connsiteX1" fmla="*/ 292894 w 3543300"/>
                <a:gd name="connsiteY1" fmla="*/ 1263968 h 1266825"/>
                <a:gd name="connsiteX2" fmla="*/ 7144 w 3543300"/>
                <a:gd name="connsiteY2" fmla="*/ 978218 h 1266825"/>
                <a:gd name="connsiteX3" fmla="*/ 7144 w 3543300"/>
                <a:gd name="connsiteY3" fmla="*/ 7144 h 1266825"/>
                <a:gd name="connsiteX4" fmla="*/ 3539014 w 3543300"/>
                <a:gd name="connsiteY4" fmla="*/ 7144 h 1266825"/>
                <a:gd name="connsiteX5" fmla="*/ 3539014 w 3543300"/>
                <a:gd name="connsiteY5" fmla="*/ 978218 h 1266825"/>
                <a:gd name="connsiteX6" fmla="*/ 3253264 w 3543300"/>
                <a:gd name="connsiteY6" fmla="*/ 1263968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3300" h="1266825">
                  <a:moveTo>
                    <a:pt x="3253264" y="1263968"/>
                  </a:moveTo>
                  <a:lnTo>
                    <a:pt x="292894" y="1263968"/>
                  </a:lnTo>
                  <a:cubicBezTo>
                    <a:pt x="135064" y="1263968"/>
                    <a:pt x="7144" y="1136047"/>
                    <a:pt x="7144" y="978218"/>
                  </a:cubicBezTo>
                  <a:lnTo>
                    <a:pt x="7144" y="7144"/>
                  </a:lnTo>
                  <a:lnTo>
                    <a:pt x="3539014" y="7144"/>
                  </a:lnTo>
                  <a:lnTo>
                    <a:pt x="3539014" y="978218"/>
                  </a:lnTo>
                  <a:cubicBezTo>
                    <a:pt x="3539014" y="1136047"/>
                    <a:pt x="3411093" y="1263968"/>
                    <a:pt x="3253264" y="1263968"/>
                  </a:cubicBezTo>
                  <a:close/>
                </a:path>
              </a:pathLst>
            </a:custGeom>
            <a:solidFill>
              <a:srgbClr val="0A1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999262-5267-4978-9C63-12E591013E47}"/>
                </a:ext>
              </a:extLst>
            </p:cNvPr>
            <p:cNvSpPr txBox="1"/>
            <p:nvPr/>
          </p:nvSpPr>
          <p:spPr>
            <a:xfrm>
              <a:off x="2977622" y="118436"/>
              <a:ext cx="6452656" cy="1502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k-SK" sz="4000" b="1">
                  <a:solidFill>
                    <a:prstClr val="white"/>
                  </a:solidFill>
                  <a:latin typeface="+mj-lt"/>
                </a:rPr>
                <a:t>Kubernates – </a:t>
              </a:r>
            </a:p>
            <a:p>
              <a:pPr algn="ctr"/>
              <a:r>
                <a:rPr lang="sk-SK" sz="4000" b="1">
                  <a:solidFill>
                    <a:prstClr val="white"/>
                  </a:solidFill>
                  <a:latin typeface="+mj-lt"/>
                </a:rPr>
                <a:t>rozšírenie obzoru</a:t>
              </a:r>
              <a:endParaRPr lang="en-US" sz="4000" b="1">
                <a:solidFill>
                  <a:schemeClr val="bg1"/>
                </a:solidFill>
                <a:latin typeface="+mj-lt"/>
              </a:endParaRPr>
            </a:p>
          </p:txBody>
        </p:sp>
      </p:grpSp>
      <p:pic>
        <p:nvPicPr>
          <p:cNvPr id="5" name="Picture 2" descr="docker - Official Image | Docker Hub">
            <a:extLst>
              <a:ext uri="{FF2B5EF4-FFF2-40B4-BE49-F238E27FC236}">
                <a16:creationId xmlns:a16="http://schemas.microsoft.com/office/drawing/2014/main" id="{8348A9FE-E1E5-444D-89C2-76F2A6647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4909" y="4041285"/>
            <a:ext cx="2581275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26D58D-D4F9-4FA6-9388-A46511A1AF16}"/>
              </a:ext>
            </a:extLst>
          </p:cNvPr>
          <p:cNvSpPr txBox="1"/>
          <p:nvPr/>
        </p:nvSpPr>
        <p:spPr>
          <a:xfrm>
            <a:off x="499621" y="2168367"/>
            <a:ext cx="10718276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400" b="1">
                <a:hlinkClick r:id="rId3"/>
              </a:rPr>
              <a:t>https://magazin.kpi.fei.tuke.sk/2019/04/kubernetes-a-jeho-zakladne-pouzitie/</a:t>
            </a:r>
            <a:r>
              <a:rPr lang="sk-SK" sz="2400" b="1"/>
              <a:t> </a:t>
            </a:r>
            <a:endParaRPr lang="sk-SK" sz="2400" i="1">
              <a:solidFill>
                <a:schemeClr val="accent2"/>
              </a:solidFill>
            </a:endParaRPr>
          </a:p>
        </p:txBody>
      </p:sp>
      <p:sp>
        <p:nvSpPr>
          <p:cNvPr id="10" name="Zástupný objekt pre číslo snímky 2">
            <a:extLst>
              <a:ext uri="{FF2B5EF4-FFF2-40B4-BE49-F238E27FC236}">
                <a16:creationId xmlns:a16="http://schemas.microsoft.com/office/drawing/2014/main" id="{AB6A226C-F970-4083-8182-3B7B11789C77}"/>
              </a:ext>
            </a:extLst>
          </p:cNvPr>
          <p:cNvSpPr txBox="1">
            <a:spLocks/>
          </p:cNvSpPr>
          <p:nvPr/>
        </p:nvSpPr>
        <p:spPr>
          <a:xfrm>
            <a:off x="10617200" y="6445074"/>
            <a:ext cx="147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800" b="1" smtClean="0">
                <a:solidFill>
                  <a:schemeClr val="tx1"/>
                </a:solidFill>
              </a:rPr>
              <a:pPr/>
              <a:t>25</a:t>
            </a:fld>
            <a:endParaRPr lang="en-US" sz="1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522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463CF8A2-D1AB-41F3-822B-83E8C263AFF4}"/>
              </a:ext>
            </a:extLst>
          </p:cNvPr>
          <p:cNvSpPr/>
          <p:nvPr/>
        </p:nvSpPr>
        <p:spPr>
          <a:xfrm>
            <a:off x="10319575" y="6106097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4815CB2D-B032-4B5B-AFFE-E5609CD703AF}"/>
              </a:ext>
            </a:extLst>
          </p:cNvPr>
          <p:cNvSpPr/>
          <p:nvPr/>
        </p:nvSpPr>
        <p:spPr>
          <a:xfrm>
            <a:off x="7519701" y="5998464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ECD3D905-8B3E-4C4B-B808-DB163B2D9F95}"/>
              </a:ext>
            </a:extLst>
          </p:cNvPr>
          <p:cNvSpPr/>
          <p:nvPr/>
        </p:nvSpPr>
        <p:spPr>
          <a:xfrm>
            <a:off x="11424761" y="5785580"/>
            <a:ext cx="228600" cy="228600"/>
          </a:xfrm>
          <a:custGeom>
            <a:avLst/>
            <a:gdLst>
              <a:gd name="connsiteX0" fmla="*/ 222219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9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9" y="114681"/>
                </a:moveTo>
                <a:cubicBezTo>
                  <a:pt x="222219" y="174072"/>
                  <a:pt x="174073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3" y="7144"/>
                  <a:pt x="222219" y="55290"/>
                  <a:pt x="222219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685ED9C-F597-4AE6-8368-9BCC36DEC0A8}"/>
              </a:ext>
            </a:extLst>
          </p:cNvPr>
          <p:cNvSpPr/>
          <p:nvPr/>
        </p:nvSpPr>
        <p:spPr>
          <a:xfrm>
            <a:off x="4524851" y="6266402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32CB548B-16AD-473E-9EB5-182F6627425C}"/>
              </a:ext>
            </a:extLst>
          </p:cNvPr>
          <p:cNvSpPr/>
          <p:nvPr/>
        </p:nvSpPr>
        <p:spPr>
          <a:xfrm>
            <a:off x="2423255" y="908018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9E1D4ECC-4BB6-44DF-ABDB-9CFD20055438}"/>
              </a:ext>
            </a:extLst>
          </p:cNvPr>
          <p:cNvSpPr/>
          <p:nvPr/>
        </p:nvSpPr>
        <p:spPr>
          <a:xfrm>
            <a:off x="10534745" y="684943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0 w 228600"/>
              <a:gd name="connsiteY1" fmla="*/ 222218 h 228600"/>
              <a:gd name="connsiteX2" fmla="*/ 7143 w 228600"/>
              <a:gd name="connsiteY2" fmla="*/ 114681 h 228600"/>
              <a:gd name="connsiteX3" fmla="*/ 114680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0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0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93AB973F-91CD-4360-9854-C1E5A3A02B20}"/>
              </a:ext>
            </a:extLst>
          </p:cNvPr>
          <p:cNvSpPr/>
          <p:nvPr/>
        </p:nvSpPr>
        <p:spPr>
          <a:xfrm>
            <a:off x="11639931" y="364331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3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89" y="222218"/>
                  <a:pt x="7143" y="174072"/>
                  <a:pt x="7143" y="114681"/>
                </a:cubicBezTo>
                <a:cubicBezTo>
                  <a:pt x="7143" y="55290"/>
                  <a:pt x="55289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17C54CA9-2629-415F-949F-A72754CFCAEA}"/>
              </a:ext>
            </a:extLst>
          </p:cNvPr>
          <p:cNvSpPr/>
          <p:nvPr/>
        </p:nvSpPr>
        <p:spPr>
          <a:xfrm>
            <a:off x="884396" y="6051233"/>
            <a:ext cx="228600" cy="228600"/>
          </a:xfrm>
          <a:custGeom>
            <a:avLst/>
            <a:gdLst>
              <a:gd name="connsiteX0" fmla="*/ 222218 w 228600"/>
              <a:gd name="connsiteY0" fmla="*/ 114681 h 228600"/>
              <a:gd name="connsiteX1" fmla="*/ 114681 w 228600"/>
              <a:gd name="connsiteY1" fmla="*/ 222218 h 228600"/>
              <a:gd name="connsiteX2" fmla="*/ 7144 w 228600"/>
              <a:gd name="connsiteY2" fmla="*/ 114681 h 228600"/>
              <a:gd name="connsiteX3" fmla="*/ 114681 w 228600"/>
              <a:gd name="connsiteY3" fmla="*/ 7144 h 228600"/>
              <a:gd name="connsiteX4" fmla="*/ 222218 w 228600"/>
              <a:gd name="connsiteY4" fmla="*/ 11468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" h="228600">
                <a:moveTo>
                  <a:pt x="222218" y="114681"/>
                </a:moveTo>
                <a:cubicBezTo>
                  <a:pt x="222218" y="174072"/>
                  <a:pt x="174072" y="222218"/>
                  <a:pt x="114681" y="222218"/>
                </a:cubicBezTo>
                <a:cubicBezTo>
                  <a:pt x="55290" y="222218"/>
                  <a:pt x="7144" y="174072"/>
                  <a:pt x="7144" y="114681"/>
                </a:cubicBezTo>
                <a:cubicBezTo>
                  <a:pt x="7144" y="55290"/>
                  <a:pt x="55290" y="7144"/>
                  <a:pt x="114681" y="7144"/>
                </a:cubicBezTo>
                <a:cubicBezTo>
                  <a:pt x="174072" y="7144"/>
                  <a:pt x="222218" y="55290"/>
                  <a:pt x="222218" y="114681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93C76914-3F44-4D56-A066-C71F5845F8BD}"/>
              </a:ext>
            </a:extLst>
          </p:cNvPr>
          <p:cNvSpPr txBox="1">
            <a:spLocks/>
          </p:cNvSpPr>
          <p:nvPr/>
        </p:nvSpPr>
        <p:spPr>
          <a:xfrm>
            <a:off x="936066" y="1041960"/>
            <a:ext cx="9496424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b="1"/>
              <a:t>Ďakujem za pozornosť !</a:t>
            </a:r>
            <a:endParaRPr lang="en-US" b="1"/>
          </a:p>
        </p:txBody>
      </p:sp>
      <p:sp>
        <p:nvSpPr>
          <p:cNvPr id="104" name="Obdĺžnik 7">
            <a:extLst>
              <a:ext uri="{FF2B5EF4-FFF2-40B4-BE49-F238E27FC236}">
                <a16:creationId xmlns:a16="http://schemas.microsoft.com/office/drawing/2014/main" id="{B429D40E-D023-4485-8368-9FE690E22F3A}"/>
              </a:ext>
            </a:extLst>
          </p:cNvPr>
          <p:cNvSpPr/>
          <p:nvPr/>
        </p:nvSpPr>
        <p:spPr>
          <a:xfrm>
            <a:off x="304800" y="5435040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7200"/>
            <a:r>
              <a:rPr lang="en-US" sz="2000" i="1">
                <a:latin typeface="Times New Roman" panose="02020603050405020304" pitchFamily="18" charset="0"/>
                <a:ea typeface="Times New Roman" panose="02020603050405020304" pitchFamily="18" charset="0"/>
              </a:rPr>
              <a:t>“The whole of science is nothing more than a refinement of everyday thinking”</a:t>
            </a:r>
            <a:endParaRPr lang="sk-SK" sz="200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2000" i="1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sk-SK" sz="200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sz="2000" i="1">
                <a:latin typeface="Times New Roman" panose="02020603050405020304" pitchFamily="18" charset="0"/>
                <a:ea typeface="Times New Roman" panose="02020603050405020304" pitchFamily="18" charset="0"/>
              </a:rPr>
              <a:t>Albert Einstein</a:t>
            </a:r>
            <a:endParaRPr lang="sk-SK" sz="20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11" name="Picture 2" descr="Microsoft Cloud Consultancy - Makronet Information Technologies">
            <a:extLst>
              <a:ext uri="{FF2B5EF4-FFF2-40B4-BE49-F238E27FC236}">
                <a16:creationId xmlns:a16="http://schemas.microsoft.com/office/drawing/2014/main" id="{52DBBF10-9912-457B-8AC2-CCF8117EC7F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100" y="3171824"/>
            <a:ext cx="4914900" cy="3686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099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Ppt Template">
      <a:dk1>
        <a:sysClr val="windowText" lastClr="000000"/>
      </a:dk1>
      <a:lt1>
        <a:sysClr val="window" lastClr="FFFFFF"/>
      </a:lt1>
      <a:dk2>
        <a:srgbClr val="7F7F7F"/>
      </a:dk2>
      <a:lt2>
        <a:srgbClr val="F2F2F2"/>
      </a:lt2>
      <a:accent1>
        <a:srgbClr val="0A1931"/>
      </a:accent1>
      <a:accent2>
        <a:srgbClr val="185ADB"/>
      </a:accent2>
      <a:accent3>
        <a:srgbClr val="FFC947"/>
      </a:accent3>
      <a:accent4>
        <a:srgbClr val="EFEFE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uicksand">
      <a:majorFont>
        <a:latin typeface="quicksand"/>
        <a:ea typeface=""/>
        <a:cs typeface=""/>
      </a:majorFont>
      <a:minorFont>
        <a:latin typeface="quicks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56751D3295D54EB9B224BEF6AC4E3F" ma:contentTypeVersion="8" ma:contentTypeDescription="Create a new document." ma:contentTypeScope="" ma:versionID="6bd94e1ae4c6646ab4f923ef5bb97117">
  <xsd:schema xmlns:xsd="http://www.w3.org/2001/XMLSchema" xmlns:xs="http://www.w3.org/2001/XMLSchema" xmlns:p="http://schemas.microsoft.com/office/2006/metadata/properties" xmlns:ns2="b6d39ea5-b5ce-475b-be83-5e062f7f9195" targetNamespace="http://schemas.microsoft.com/office/2006/metadata/properties" ma:root="true" ma:fieldsID="5acdf4dd5a87dac35c2fe68a02368012" ns2:_="">
    <xsd:import namespace="b6d39ea5-b5ce-475b-be83-5e062f7f9195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d39ea5-b5ce-475b-be83-5e062f7f9195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BC0F55-36FB-4B85-9917-28BFB6F60F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6d39ea5-b5ce-475b-be83-5e062f7f91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01F9FB-4635-40B7-9759-45DAA6E84A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CC337A-B97C-4D0A-BD4F-49FE70AC12C5}">
  <ds:schemaRefs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ff6dbec8-95a8-4638-9f5f-bd076536645c}" enabled="1" method="Standard" siteId="{5dbf1add-202a-4b8d-815b-bf0fb024e03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Raiyan Siyam</dc:creator>
  <cp:revision>2</cp:revision>
  <dcterms:created xsi:type="dcterms:W3CDTF">2021-07-11T18:19:19Z</dcterms:created>
  <dcterms:modified xsi:type="dcterms:W3CDTF">2026-10-22T09:00:02Z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f6dbec8-95a8-4638-9f5f-bd076536645c_Enabled">
    <vt:lpwstr>true</vt:lpwstr>
  </property>
  <property fmtid="{D5CDD505-2E9C-101B-9397-08002B2CF9AE}" pid="3" name="MSIP_Label_ff6dbec8-95a8-4638-9f5f-bd076536645c_SetDate">
    <vt:lpwstr>2022-09-15T17:15:43Z</vt:lpwstr>
  </property>
  <property fmtid="{D5CDD505-2E9C-101B-9397-08002B2CF9AE}" pid="4" name="MSIP_Label_ff6dbec8-95a8-4638-9f5f-bd076536645c_Method">
    <vt:lpwstr>Standard</vt:lpwstr>
  </property>
  <property fmtid="{D5CDD505-2E9C-101B-9397-08002B2CF9AE}" pid="5" name="MSIP_Label_ff6dbec8-95a8-4638-9f5f-bd076536645c_Name">
    <vt:lpwstr>Restricted - Default</vt:lpwstr>
  </property>
  <property fmtid="{D5CDD505-2E9C-101B-9397-08002B2CF9AE}" pid="6" name="MSIP_Label_ff6dbec8-95a8-4638-9f5f-bd076536645c_SiteId">
    <vt:lpwstr>5dbf1add-202a-4b8d-815b-bf0fb024e033</vt:lpwstr>
  </property>
  <property fmtid="{D5CDD505-2E9C-101B-9397-08002B2CF9AE}" pid="7" name="MSIP_Label_ff6dbec8-95a8-4638-9f5f-bd076536645c_ActionId">
    <vt:lpwstr>3aa5916c-41fd-4acc-96cb-cb2315071398</vt:lpwstr>
  </property>
  <property fmtid="{D5CDD505-2E9C-101B-9397-08002B2CF9AE}" pid="8" name="MSIP_Label_ff6dbec8-95a8-4638-9f5f-bd076536645c_ContentBits">
    <vt:lpwstr>0</vt:lpwstr>
  </property>
  <property fmtid="{D5CDD505-2E9C-101B-9397-08002B2CF9AE}" pid="9" name="ContentTypeId">
    <vt:lpwstr>0x0101002A56751D3295D54EB9B224BEF6AC4E3F</vt:lpwstr>
  </property>
</Properties>
</file>